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81" r:id="rId4"/>
    <p:sldId id="265" r:id="rId5"/>
    <p:sldId id="266" r:id="rId6"/>
    <p:sldId id="282" r:id="rId7"/>
    <p:sldId id="263" r:id="rId8"/>
    <p:sldId id="262" r:id="rId9"/>
    <p:sldId id="278" r:id="rId10"/>
    <p:sldId id="28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0" autoAdjust="0"/>
    <p:restoredTop sz="94601" autoAdjust="0"/>
  </p:normalViewPr>
  <p:slideViewPr>
    <p:cSldViewPr snapToGrid="0">
      <p:cViewPr varScale="1">
        <p:scale>
          <a:sx n="74" d="100"/>
          <a:sy n="74" d="100"/>
        </p:scale>
        <p:origin x="811"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42D17F-4A0C-4A84-AB53-839898241FAD}" type="datetimeFigureOut">
              <a:rPr lang="en-IN" smtClean="0"/>
              <a:t>11-07-2024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B97947-C50A-4CF7-AA46-BD17AEC63727}" type="slidenum">
              <a:rPr lang="en-IN" smtClean="0"/>
              <a:t>‹#›</a:t>
            </a:fld>
            <a:endParaRPr lang="en-IN"/>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Tree>
    <p:extLst>
      <p:ext uri="{BB962C8B-B14F-4D97-AF65-F5344CB8AC3E}">
        <p14:creationId xmlns:p14="http://schemas.microsoft.com/office/powerpoint/2010/main" val="259923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2D17F-4A0C-4A84-AB53-839898241FAD}" type="datetimeFigureOut">
              <a:rPr lang="en-IN" smtClean="0"/>
              <a:t>11-07-2024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1500835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42D17F-4A0C-4A84-AB53-839898241FAD}" type="datetimeFigureOut">
              <a:rPr lang="en-IN" smtClean="0"/>
              <a:t>11-07-2024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2767097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F42D17F-4A0C-4A84-AB53-839898241FAD}" type="datetimeFigureOut">
              <a:rPr lang="en-IN" smtClean="0"/>
              <a:t>11-07-2024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459949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F42D17F-4A0C-4A84-AB53-839898241FAD}" type="datetimeFigureOut">
              <a:rPr lang="en-IN" smtClean="0"/>
              <a:t>11-07-2024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2934141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F42D17F-4A0C-4A84-AB53-839898241FAD}" type="datetimeFigureOut">
              <a:rPr lang="en-IN" smtClean="0"/>
              <a:t>11-07-2024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1708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42D17F-4A0C-4A84-AB53-839898241FAD}" type="datetimeFigureOut">
              <a:rPr lang="en-IN" smtClean="0"/>
              <a:t>11-07-2024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1343413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2D17F-4A0C-4A84-AB53-839898241FAD}" type="datetimeFigureOut">
              <a:rPr lang="en-IN" smtClean="0"/>
              <a:t>11-07-2024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831893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2D17F-4A0C-4A84-AB53-839898241FAD}" type="datetimeFigureOut">
              <a:rPr lang="en-IN" smtClean="0"/>
              <a:t>11-07-2024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1712479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2D17F-4A0C-4A84-AB53-839898241FAD}" type="datetimeFigureOut">
              <a:rPr lang="en-IN" smtClean="0"/>
              <a:t>11-07-2024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3608965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42D17F-4A0C-4A84-AB53-839898241FAD}" type="datetimeFigureOut">
              <a:rPr lang="en-IN" smtClean="0"/>
              <a:t>11-07-2024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B97947-C50A-4CF7-AA46-BD17AEC63727}" type="slidenum">
              <a:rPr lang="en-IN" smtClean="0"/>
              <a:t>‹#›</a:t>
            </a:fld>
            <a:endParaRPr lang="en-IN"/>
          </a:p>
        </p:txBody>
      </p:sp>
    </p:spTree>
    <p:extLst>
      <p:ext uri="{BB962C8B-B14F-4D97-AF65-F5344CB8AC3E}">
        <p14:creationId xmlns:p14="http://schemas.microsoft.com/office/powerpoint/2010/main" val="1612773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42D17F-4A0C-4A84-AB53-839898241FAD}" type="datetimeFigureOut">
              <a:rPr lang="en-IN" smtClean="0"/>
              <a:t>11-07-2024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B97947-C50A-4CF7-AA46-BD17AEC63727}" type="slidenum">
              <a:rPr lang="en-IN" smtClean="0"/>
              <a:t>‹#›</a:t>
            </a:fld>
            <a:endParaRPr lang="en-IN"/>
          </a:p>
        </p:txBody>
      </p:sp>
    </p:spTree>
    <p:extLst>
      <p:ext uri="{BB962C8B-B14F-4D97-AF65-F5344CB8AC3E}">
        <p14:creationId xmlns:p14="http://schemas.microsoft.com/office/powerpoint/2010/main" val="2437369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doi.org/10.1109/ICMIP.2017.4" TargetMode="External"/><Relationship Id="rId3" Type="http://schemas.openxmlformats.org/officeDocument/2006/relationships/hyperlink" Target="https://doi.org/10.1109/ICECS.2013.6815565" TargetMode="External"/><Relationship Id="rId7" Type="http://schemas.openxmlformats.org/officeDocument/2006/relationships/hyperlink" Target="https://doi.org/10.1109/ICSGRC.2017.8070573" TargetMode="External"/><Relationship Id="rId2" Type="http://schemas.openxmlformats.org/officeDocument/2006/relationships/hyperlink" Target="https://doi.org/10.1109/TVT.2013.2297331" TargetMode="External"/><Relationship Id="rId1" Type="http://schemas.openxmlformats.org/officeDocument/2006/relationships/slideLayout" Target="../slideLayouts/slideLayout1.xml"/><Relationship Id="rId6" Type="http://schemas.openxmlformats.org/officeDocument/2006/relationships/hyperlink" Target="https://doi.org/10.23919/IConAC.2017.8082071" TargetMode="External"/><Relationship Id="rId5" Type="http://schemas.openxmlformats.org/officeDocument/2006/relationships/hyperlink" Target="https://doi.org/10.1109/SCSP.2018.8402667" TargetMode="External"/><Relationship Id="rId4" Type="http://schemas.openxmlformats.org/officeDocument/2006/relationships/hyperlink" Target="https://doi.org/10.1109/ICACAT.2018.8933644" TargetMode="External"/><Relationship Id="rId9" Type="http://schemas.openxmlformats.org/officeDocument/2006/relationships/hyperlink" Target="https://doi.org/10.1109/MINES.2012.2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546847" y="1592826"/>
            <a:ext cx="11098306" cy="1566934"/>
          </a:xfrm>
        </p:spPr>
        <p:txBody>
          <a:bodyPr>
            <a:normAutofit fontScale="90000"/>
          </a:bodyPr>
          <a:lstStyle/>
          <a:p>
            <a:pPr algn="ctr"/>
            <a:br>
              <a:rPr lang="en-IN" sz="3100" dirty="0"/>
            </a:br>
            <a:r>
              <a:rPr lang="en-IN" sz="3100" b="1" dirty="0"/>
              <a:t>Guide For Parking Detection and Parking Space Counter in Smart City Using OpenCV</a:t>
            </a:r>
            <a:br>
              <a:rPr lang="en-IN" dirty="0"/>
            </a:br>
            <a:br>
              <a:rPr lang="en-US" dirty="0">
                <a:latin typeface="Montserrat" panose="00000500000000000000" charset="0"/>
                <a:cs typeface="Times New Roman" panose="02020603050405020304" pitchFamily="18" charset="0"/>
              </a:rPr>
            </a:br>
            <a:endParaRPr lang="en-IN" dirty="0"/>
          </a:p>
        </p:txBody>
      </p:sp>
      <p:sp>
        <p:nvSpPr>
          <p:cNvPr id="4" name="TextBox 3"/>
          <p:cNvSpPr txBox="1"/>
          <p:nvPr/>
        </p:nvSpPr>
        <p:spPr>
          <a:xfrm>
            <a:off x="2239857" y="3987325"/>
            <a:ext cx="6265046" cy="1384995"/>
          </a:xfrm>
          <a:prstGeom prst="rect">
            <a:avLst/>
          </a:prstGeom>
          <a:noFill/>
        </p:spPr>
        <p:txBody>
          <a:bodyPr wrap="square" rtlCol="0">
            <a:spAutoFit/>
          </a:bodyPr>
          <a:lstStyle/>
          <a:p>
            <a:pPr algn="ctr"/>
            <a:r>
              <a:rPr lang="en-IN" b="1" dirty="0">
                <a:latin typeface="Montserrat" panose="020B0604020202020204" charset="0"/>
              </a:rPr>
              <a:t>Presented By: </a:t>
            </a:r>
            <a:r>
              <a:rPr lang="en-IN" b="1" dirty="0" err="1">
                <a:latin typeface="Montserrat" panose="020B0604020202020204" charset="0"/>
              </a:rPr>
              <a:t>Sujal</a:t>
            </a:r>
            <a:r>
              <a:rPr lang="en-IN" b="1" dirty="0">
                <a:latin typeface="Montserrat" panose="020B0604020202020204" charset="0"/>
              </a:rPr>
              <a:t> </a:t>
            </a:r>
            <a:r>
              <a:rPr lang="en-IN" b="1" dirty="0" err="1">
                <a:latin typeface="Montserrat" panose="020B0604020202020204" charset="0"/>
              </a:rPr>
              <a:t>Gondane</a:t>
            </a:r>
            <a:r>
              <a:rPr lang="en-IN" b="1" dirty="0">
                <a:latin typeface="Montserrat" panose="020B0604020202020204" charset="0"/>
              </a:rPr>
              <a:t>,</a:t>
            </a:r>
          </a:p>
          <a:p>
            <a:pPr algn="ctr"/>
            <a:r>
              <a:rPr lang="en-IN" b="1" dirty="0">
                <a:latin typeface="Montserrat" panose="020B0604020202020204" charset="0"/>
              </a:rPr>
              <a:t>Sahas </a:t>
            </a:r>
            <a:r>
              <a:rPr lang="en-IN" b="1" dirty="0" err="1">
                <a:latin typeface="Montserrat" panose="020B0604020202020204" charset="0"/>
              </a:rPr>
              <a:t>Mendke</a:t>
            </a:r>
            <a:r>
              <a:rPr lang="en-IN" b="1" dirty="0">
                <a:latin typeface="Montserrat" panose="020B0604020202020204" charset="0"/>
              </a:rPr>
              <a:t>,</a:t>
            </a:r>
          </a:p>
          <a:p>
            <a:pPr algn="ctr"/>
            <a:r>
              <a:rPr lang="en-IN" b="1" dirty="0">
                <a:latin typeface="Montserrat" panose="020B0604020202020204" charset="0"/>
              </a:rPr>
              <a:t>Tushar Bhure</a:t>
            </a:r>
          </a:p>
          <a:p>
            <a:pPr algn="ctr"/>
            <a:r>
              <a:rPr lang="en-IN" b="1" dirty="0">
                <a:latin typeface="Montserrat" panose="020B0604020202020204" charset="0"/>
              </a:rPr>
              <a:t>  </a:t>
            </a:r>
            <a:endParaRPr lang="en-IN" dirty="0">
              <a:latin typeface="Montserrat" panose="020B0604020202020204" charset="0"/>
            </a:endParaRPr>
          </a:p>
          <a:p>
            <a:pPr algn="ctr"/>
            <a:endParaRPr lang="en-IN" sz="1200" dirty="0">
              <a:latin typeface="Montserrat" panose="020B0604020202020204" charset="0"/>
            </a:endParaRPr>
          </a:p>
        </p:txBody>
      </p:sp>
      <p:grpSp>
        <p:nvGrpSpPr>
          <p:cNvPr id="10" name="Group 9"/>
          <p:cNvGrpSpPr>
            <a:grpSpLocks/>
          </p:cNvGrpSpPr>
          <p:nvPr/>
        </p:nvGrpSpPr>
        <p:grpSpPr bwMode="auto">
          <a:xfrm>
            <a:off x="1" y="5227320"/>
            <a:ext cx="12054840" cy="1397230"/>
            <a:chOff x="0" y="450140"/>
            <a:chExt cx="6351542" cy="994318"/>
          </a:xfrm>
        </p:grpSpPr>
        <p:sp>
          <p:nvSpPr>
            <p:cNvPr id="11" name="Text Box 3"/>
            <p:cNvSpPr txBox="1"/>
            <p:nvPr/>
          </p:nvSpPr>
          <p:spPr>
            <a:xfrm>
              <a:off x="0" y="450140"/>
              <a:ext cx="6308568" cy="602301"/>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400" b="1" dirty="0">
                  <a:solidFill>
                    <a:srgbClr val="660087"/>
                  </a:solidFill>
                  <a:effectLst/>
                  <a:latin typeface="Red Hat Display"/>
                  <a:ea typeface="Tahoma" panose="020B0604030504040204" pitchFamily="34" charset="0"/>
                </a:rPr>
                <a:t>Department of </a:t>
              </a:r>
              <a:r>
                <a:rPr lang="en-IN" sz="2400" b="1" dirty="0">
                  <a:solidFill>
                    <a:srgbClr val="660087"/>
                  </a:solidFill>
                  <a:effectLst/>
                  <a:latin typeface="Red Hat Display"/>
                  <a:ea typeface="Tahoma" panose="020B0604030504040204" pitchFamily="34" charset="0"/>
                </a:rPr>
                <a:t>Data</a:t>
              </a:r>
              <a:r>
                <a:rPr lang="en-IN" sz="2400" b="1" baseline="0" dirty="0">
                  <a:solidFill>
                    <a:srgbClr val="660087"/>
                  </a:solidFill>
                  <a:effectLst/>
                  <a:latin typeface="Red Hat Display"/>
                  <a:ea typeface="Tahoma" panose="020B0604030504040204" pitchFamily="34" charset="0"/>
                </a:rPr>
                <a:t> Science, IoT and Cyber Security</a:t>
              </a:r>
              <a:endParaRPr lang="en-IN" sz="2400" dirty="0">
                <a:effectLst/>
                <a:latin typeface="Times New Roman" panose="02020603050405020304" pitchFamily="18" charset="0"/>
                <a:ea typeface="Times New Roman" panose="02020603050405020304" pitchFamily="18" charset="0"/>
              </a:endParaRPr>
            </a:p>
            <a:p>
              <a:pPr algn="ctr"/>
              <a:r>
                <a:rPr lang="en-US" sz="2400" b="1" dirty="0">
                  <a:solidFill>
                    <a:srgbClr val="ED6E00"/>
                  </a:solidFill>
                  <a:effectLst/>
                  <a:latin typeface="Red Hat Display"/>
                  <a:ea typeface="Tahoma" panose="020B0604030504040204" pitchFamily="34" charset="0"/>
                </a:rPr>
                <a:t>G H </a:t>
              </a:r>
              <a:r>
                <a:rPr lang="en-US" sz="2400" b="1" dirty="0" err="1">
                  <a:solidFill>
                    <a:srgbClr val="ED6E00"/>
                  </a:solidFill>
                  <a:effectLst/>
                  <a:latin typeface="Red Hat Display"/>
                  <a:ea typeface="Tahoma" panose="020B0604030504040204" pitchFamily="34" charset="0"/>
                </a:rPr>
                <a:t>R</a:t>
              </a:r>
              <a:r>
                <a:rPr lang="en-US" sz="2400" b="1" spc="-5" dirty="0" err="1">
                  <a:solidFill>
                    <a:srgbClr val="ED6E00"/>
                  </a:solidFill>
                  <a:effectLst/>
                  <a:latin typeface="Red Hat Display"/>
                  <a:ea typeface="Tahoma" panose="020B0604030504040204" pitchFamily="34" charset="0"/>
                </a:rPr>
                <a:t>a</a:t>
              </a:r>
              <a:r>
                <a:rPr lang="en-US" sz="2400" b="1" spc="-10" dirty="0" err="1">
                  <a:solidFill>
                    <a:srgbClr val="ED6E00"/>
                  </a:solidFill>
                  <a:effectLst/>
                  <a:latin typeface="Red Hat Display"/>
                  <a:ea typeface="Tahoma" panose="020B0604030504040204" pitchFamily="34" charset="0"/>
                </a:rPr>
                <a:t>i</a:t>
              </a:r>
              <a:r>
                <a:rPr lang="en-US" sz="2400" b="1" dirty="0" err="1">
                  <a:solidFill>
                    <a:srgbClr val="ED6E00"/>
                  </a:solidFill>
                  <a:effectLst/>
                  <a:latin typeface="Red Hat Display"/>
                  <a:ea typeface="Tahoma" panose="020B0604030504040204" pitchFamily="34" charset="0"/>
                </a:rPr>
                <a:t>soni</a:t>
              </a:r>
              <a:r>
                <a:rPr lang="en-US" sz="2400" b="1" dirty="0">
                  <a:solidFill>
                    <a:srgbClr val="ED6E00"/>
                  </a:solidFill>
                  <a:effectLst/>
                  <a:latin typeface="Red Hat Display"/>
                  <a:ea typeface="Tahoma" panose="020B0604030504040204" pitchFamily="34" charset="0"/>
                </a:rPr>
                <a:t> </a:t>
              </a:r>
              <a:r>
                <a:rPr lang="en-US" sz="2400" b="1" spc="-15" dirty="0">
                  <a:solidFill>
                    <a:srgbClr val="ED6E00"/>
                  </a:solidFill>
                  <a:effectLst/>
                  <a:latin typeface="Red Hat Display"/>
                  <a:ea typeface="Tahoma" panose="020B0604030504040204" pitchFamily="34" charset="0"/>
                </a:rPr>
                <a:t>C</a:t>
              </a:r>
              <a:r>
                <a:rPr lang="en-US" sz="2400" b="1" dirty="0">
                  <a:solidFill>
                    <a:srgbClr val="ED6E00"/>
                  </a:solidFill>
                  <a:effectLst/>
                  <a:latin typeface="Red Hat Display"/>
                  <a:ea typeface="Tahoma" panose="020B0604030504040204" pitchFamily="34" charset="0"/>
                </a:rPr>
                <a:t>oll</a:t>
              </a:r>
              <a:r>
                <a:rPr lang="en-US" sz="2400" b="1" spc="5" dirty="0">
                  <a:solidFill>
                    <a:srgbClr val="ED6E00"/>
                  </a:solidFill>
                  <a:effectLst/>
                  <a:latin typeface="Red Hat Display"/>
                  <a:ea typeface="Tahoma" panose="020B0604030504040204" pitchFamily="34" charset="0"/>
                </a:rPr>
                <a:t>e</a:t>
              </a:r>
              <a:r>
                <a:rPr lang="en-US" sz="2400" b="1" spc="-15" dirty="0">
                  <a:solidFill>
                    <a:srgbClr val="ED6E00"/>
                  </a:solidFill>
                  <a:effectLst/>
                  <a:latin typeface="Red Hat Display"/>
                  <a:ea typeface="Tahoma" panose="020B0604030504040204" pitchFamily="34" charset="0"/>
                </a:rPr>
                <a:t>g</a:t>
              </a:r>
              <a:r>
                <a:rPr lang="en-US" sz="2400" b="1" dirty="0">
                  <a:solidFill>
                    <a:srgbClr val="ED6E00"/>
                  </a:solidFill>
                  <a:effectLst/>
                  <a:latin typeface="Red Hat Display"/>
                  <a:ea typeface="Tahoma" panose="020B0604030504040204" pitchFamily="34" charset="0"/>
                </a:rPr>
                <a:t>e of Eng</a:t>
              </a:r>
              <a:r>
                <a:rPr lang="en-US" sz="2400" b="1" spc="-15" dirty="0">
                  <a:solidFill>
                    <a:srgbClr val="ED6E00"/>
                  </a:solidFill>
                  <a:effectLst/>
                  <a:latin typeface="Red Hat Display"/>
                  <a:ea typeface="Tahoma" panose="020B0604030504040204" pitchFamily="34" charset="0"/>
                </a:rPr>
                <a:t>i</a:t>
              </a:r>
              <a:r>
                <a:rPr lang="en-US" sz="2400" b="1" dirty="0">
                  <a:solidFill>
                    <a:srgbClr val="ED6E00"/>
                  </a:solidFill>
                  <a:effectLst/>
                  <a:latin typeface="Red Hat Display"/>
                  <a:ea typeface="Tahoma" panose="020B0604030504040204" pitchFamily="34" charset="0"/>
                </a:rPr>
                <a:t>neering </a:t>
              </a:r>
              <a:endParaRPr lang="en-IN" sz="2400" dirty="0">
                <a:effectLst/>
                <a:latin typeface="Times New Roman" panose="02020603050405020304" pitchFamily="18" charset="0"/>
                <a:ea typeface="Times New Roman" panose="02020603050405020304" pitchFamily="18" charset="0"/>
              </a:endParaRPr>
            </a:p>
          </p:txBody>
        </p:sp>
        <p:pic>
          <p:nvPicPr>
            <p:cNvPr id="1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2" y="1050758"/>
              <a:ext cx="634746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02482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1391920" y="1300480"/>
            <a:ext cx="9144000" cy="5313680"/>
          </a:xfrm>
        </p:spPr>
        <p:txBody>
          <a:bodyPr>
            <a:normAutofit lnSpcReduction="10000"/>
          </a:bodyPr>
          <a:lstStyle/>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Introduction</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Literature Review</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Comparison Table</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Objectives</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Proposed Methodology</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Data Collection </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Implementation </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Testing and Summary of Results</a:t>
            </a:r>
          </a:p>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References</a:t>
            </a:r>
          </a:p>
          <a:p>
            <a:endParaRPr lang="en-IN" dirty="0"/>
          </a:p>
        </p:txBody>
      </p:sp>
      <p:sp>
        <p:nvSpPr>
          <p:cNvPr id="4" name="Google Shape;85;p16"/>
          <p:cNvSpPr txBox="1">
            <a:spLocks noGrp="1"/>
          </p:cNvSpPr>
          <p:nvPr>
            <p:ph type="ctrTitle" idx="4294967295"/>
          </p:nvPr>
        </p:nvSpPr>
        <p:spPr>
          <a:xfrm>
            <a:off x="5293360" y="685483"/>
            <a:ext cx="9144000" cy="533717"/>
          </a:xfrm>
          <a:prstGeom prst="rect">
            <a:avLst/>
          </a:prstGeom>
        </p:spPr>
        <p:txBody>
          <a:bodyPr spcFirstLastPara="1" wrap="square" lIns="91425" tIns="91425" rIns="91425" bIns="91425" anchor="ctr" anchorCtr="0">
            <a:normAutofit/>
          </a:bodyPr>
          <a:lstStyle/>
          <a:p>
            <a:pPr lvl="0"/>
            <a:r>
              <a:rPr lang="en-GB" sz="2400" b="1" dirty="0">
                <a:latin typeface="Montserrat"/>
                <a:ea typeface="Montserrat"/>
                <a:cs typeface="Montserrat"/>
                <a:sym typeface="Montserrat"/>
              </a:rPr>
              <a:t>Contents</a:t>
            </a:r>
            <a:endParaRPr b="1" dirty="0">
              <a:latin typeface="Montserrat"/>
              <a:ea typeface="Montserrat"/>
              <a:cs typeface="Montserrat"/>
              <a:sym typeface="Montserrat"/>
            </a:endParaRPr>
          </a:p>
        </p:txBody>
      </p:sp>
    </p:spTree>
    <p:extLst>
      <p:ext uri="{BB962C8B-B14F-4D97-AF65-F5344CB8AC3E}">
        <p14:creationId xmlns:p14="http://schemas.microsoft.com/office/powerpoint/2010/main" val="330538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1391920" y="1300480"/>
            <a:ext cx="9144000" cy="5313680"/>
          </a:xfrm>
        </p:spPr>
        <p:txBody>
          <a:bodyPr>
            <a:normAutofit lnSpcReduction="10000"/>
          </a:bodyPr>
          <a:lstStyle/>
          <a:p>
            <a:pPr marL="285750" indent="-285750">
              <a:lnSpc>
                <a:spcPct val="120000"/>
              </a:lnSpc>
              <a:spcAft>
                <a:spcPts val="1200"/>
              </a:spcAft>
            </a:pPr>
            <a:r>
              <a:rPr lang="en-US" sz="1800" b="1" dirty="0">
                <a:solidFill>
                  <a:schemeClr val="dk1"/>
                </a:solidFill>
                <a:latin typeface="Montserrat" panose="00000500000000000000" pitchFamily="2" charset="0"/>
                <a:ea typeface="Montserrat"/>
                <a:cs typeface="Montserrat"/>
                <a:sym typeface="Montserrat"/>
              </a:rPr>
              <a:t>Introduction</a:t>
            </a:r>
          </a:p>
          <a:p>
            <a:pPr>
              <a:buFont typeface="Wingdings" panose="05000000000000000000" pitchFamily="2" charset="2"/>
              <a:buChar char="§"/>
            </a:pPr>
            <a:r>
              <a:rPr lang="en-IN" sz="2000" kern="0" dirty="0">
                <a:effectLst/>
                <a:latin typeface="Aptos" panose="020B0004020202020204" pitchFamily="34" charset="0"/>
                <a:ea typeface="Times New Roman" panose="02020603050405020304" pitchFamily="18" charset="0"/>
                <a:cs typeface="Mangal" panose="02040503050203030202" pitchFamily="18" charset="0"/>
              </a:rPr>
              <a:t>In this project, we are going to create a Parking Space Counter. We will find how many total cars are present and how many spaces are vacant to park. The best thing about this tutorial is that we will be using basic Image Processing techniques to solve this problem. </a:t>
            </a:r>
          </a:p>
          <a:p>
            <a:pPr>
              <a:buFont typeface="Wingdings" panose="05000000000000000000" pitchFamily="2" charset="2"/>
              <a:buChar char="§"/>
            </a:pPr>
            <a:r>
              <a:rPr lang="en-IN" sz="2000" kern="0" dirty="0">
                <a:effectLst/>
                <a:latin typeface="Aptos" panose="020B0004020202020204" pitchFamily="34" charset="0"/>
                <a:ea typeface="Times New Roman" panose="02020603050405020304" pitchFamily="18" charset="0"/>
                <a:cs typeface="Mangal" panose="02040503050203030202" pitchFamily="18" charset="0"/>
              </a:rPr>
              <a:t>Creating a Parking Space Counter is the goal of this project. We'll count the total number of cars here and the number of parking spaces that are empty. This tutorial's best feature is that we'll be solving this problem with fundamental image processing methods.</a:t>
            </a:r>
          </a:p>
          <a:p>
            <a:pPr>
              <a:lnSpc>
                <a:spcPct val="107000"/>
              </a:lnSpc>
              <a:spcAft>
                <a:spcPts val="800"/>
              </a:spcAft>
              <a:buFont typeface="Wingdings" panose="05000000000000000000" pitchFamily="2" charset="2"/>
              <a:buChar char="§"/>
            </a:pPr>
            <a:r>
              <a:rPr lang="en-IN" sz="2000" kern="0" dirty="0">
                <a:effectLst/>
                <a:latin typeface="Aptos" panose="020B0004020202020204" pitchFamily="34" charset="0"/>
                <a:ea typeface="Times New Roman" panose="02020603050405020304" pitchFamily="18" charset="0"/>
                <a:cs typeface="Mangal" panose="02040503050203030202" pitchFamily="18" charset="0"/>
              </a:rPr>
              <a:t>Today's quickly expanding urban landscapes make effective parking space management a crucial task. In smart cities, real-time data and automation are critical for efficient urban planning and enhanced citizen experiences. Conventional means of monitoring parking availability frequently prove insufficient in these environments. Using computer vision techniques, especially with OpenCV (Open Source Computer Vision Library), presents a possible answer to this problem.</a:t>
            </a:r>
            <a:endParaRPr lang="en-IN" sz="2000" kern="100" dirty="0">
              <a:effectLst/>
              <a:latin typeface="Aptos" panose="020B0004020202020204" pitchFamily="34" charset="0"/>
              <a:ea typeface="Aptos" panose="020B0004020202020204" pitchFamily="34" charset="0"/>
              <a:cs typeface="Mangal" panose="02040503050203030202" pitchFamily="18" charset="0"/>
            </a:endParaRPr>
          </a:p>
          <a:p>
            <a:pPr>
              <a:lnSpc>
                <a:spcPct val="107000"/>
              </a:lnSpc>
              <a:spcAft>
                <a:spcPts val="800"/>
              </a:spcAft>
            </a:pPr>
            <a:endParaRPr lang="en-IN" sz="1800" kern="100" dirty="0">
              <a:effectLst/>
              <a:latin typeface="Aptos" panose="020B0004020202020204" pitchFamily="34" charset="0"/>
              <a:ea typeface="Aptos" panose="020B0004020202020204" pitchFamily="34" charset="0"/>
              <a:cs typeface="Mangal" panose="02040503050203030202" pitchFamily="18" charset="0"/>
            </a:endParaRPr>
          </a:p>
          <a:p>
            <a:pPr>
              <a:buFont typeface="Wingdings" panose="05000000000000000000" pitchFamily="2" charset="2"/>
              <a:buChar char="§"/>
            </a:pPr>
            <a:endParaRPr lang="en-IN" sz="2000" kern="100" dirty="0">
              <a:effectLst/>
              <a:latin typeface="Aptos" panose="020B0004020202020204" pitchFamily="34" charset="0"/>
              <a:ea typeface="Aptos" panose="020B0004020202020204" pitchFamily="34" charset="0"/>
              <a:cs typeface="Mangal" panose="02040503050203030202" pitchFamily="18" charset="0"/>
            </a:endParaRPr>
          </a:p>
          <a:p>
            <a:pPr marL="0" indent="0">
              <a:buNone/>
            </a:pPr>
            <a:endParaRPr lang="en-IN" dirty="0"/>
          </a:p>
        </p:txBody>
      </p:sp>
    </p:spTree>
    <p:extLst>
      <p:ext uri="{BB962C8B-B14F-4D97-AF65-F5344CB8AC3E}">
        <p14:creationId xmlns:p14="http://schemas.microsoft.com/office/powerpoint/2010/main" val="31308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524000" y="1122363"/>
            <a:ext cx="9144000" cy="329919"/>
          </a:xfrm>
        </p:spPr>
        <p:txBody>
          <a:bodyPr>
            <a:normAutofit fontScale="90000"/>
          </a:bodyPr>
          <a:lstStyle/>
          <a:p>
            <a:r>
              <a:rPr lang="en-GB" b="1" dirty="0">
                <a:latin typeface="Montserrat" panose="00000500000000000000"/>
                <a:ea typeface="Montserrat" panose="00000500000000000000"/>
                <a:cs typeface="Montserrat" panose="00000500000000000000"/>
                <a:sym typeface="Montserrat" panose="00000500000000000000"/>
              </a:rPr>
              <a:t>Literature Survey</a:t>
            </a:r>
            <a:endParaRPr lang="en-IN" dirty="0"/>
          </a:p>
        </p:txBody>
      </p:sp>
      <p:graphicFrame>
        <p:nvGraphicFramePr>
          <p:cNvPr id="6" name="Table 5">
            <a:extLst>
              <a:ext uri="{FF2B5EF4-FFF2-40B4-BE49-F238E27FC236}">
                <a16:creationId xmlns:a16="http://schemas.microsoft.com/office/drawing/2014/main" id="{5F9B5CB9-9014-64E2-4608-9EF0762D6FFD}"/>
              </a:ext>
            </a:extLst>
          </p:cNvPr>
          <p:cNvGraphicFramePr>
            <a:graphicFrameLocks noGrp="1"/>
          </p:cNvGraphicFramePr>
          <p:nvPr>
            <p:extLst>
              <p:ext uri="{D42A27DB-BD31-4B8C-83A1-F6EECF244321}">
                <p14:modId xmlns:p14="http://schemas.microsoft.com/office/powerpoint/2010/main" val="3956778634"/>
              </p:ext>
            </p:extLst>
          </p:nvPr>
        </p:nvGraphicFramePr>
        <p:xfrm>
          <a:off x="914400" y="1541353"/>
          <a:ext cx="10363200" cy="5076812"/>
        </p:xfrm>
        <a:graphic>
          <a:graphicData uri="http://schemas.openxmlformats.org/drawingml/2006/table">
            <a:tbl>
              <a:tblPr firstRow="1" firstCol="1" bandRow="1">
                <a:tableStyleId>{9D7B26C5-4107-4FEC-AEDC-1716B250A1EF}</a:tableStyleId>
              </a:tblPr>
              <a:tblGrid>
                <a:gridCol w="500436">
                  <a:extLst>
                    <a:ext uri="{9D8B030D-6E8A-4147-A177-3AD203B41FA5}">
                      <a16:colId xmlns:a16="http://schemas.microsoft.com/office/drawing/2014/main" val="20000"/>
                    </a:ext>
                  </a:extLst>
                </a:gridCol>
                <a:gridCol w="1418011">
                  <a:extLst>
                    <a:ext uri="{9D8B030D-6E8A-4147-A177-3AD203B41FA5}">
                      <a16:colId xmlns:a16="http://schemas.microsoft.com/office/drawing/2014/main" val="20001"/>
                    </a:ext>
                  </a:extLst>
                </a:gridCol>
                <a:gridCol w="1006939">
                  <a:extLst>
                    <a:ext uri="{9D8B030D-6E8A-4147-A177-3AD203B41FA5}">
                      <a16:colId xmlns:a16="http://schemas.microsoft.com/office/drawing/2014/main" val="20002"/>
                    </a:ext>
                  </a:extLst>
                </a:gridCol>
                <a:gridCol w="2403868">
                  <a:extLst>
                    <a:ext uri="{9D8B030D-6E8A-4147-A177-3AD203B41FA5}">
                      <a16:colId xmlns:a16="http://schemas.microsoft.com/office/drawing/2014/main" val="20003"/>
                    </a:ext>
                  </a:extLst>
                </a:gridCol>
                <a:gridCol w="5033946">
                  <a:extLst>
                    <a:ext uri="{9D8B030D-6E8A-4147-A177-3AD203B41FA5}">
                      <a16:colId xmlns:a16="http://schemas.microsoft.com/office/drawing/2014/main" val="20004"/>
                    </a:ext>
                  </a:extLst>
                </a:gridCol>
              </a:tblGrid>
              <a:tr h="460259">
                <a:tc>
                  <a:txBody>
                    <a:bodyPr/>
                    <a:lstStyle/>
                    <a:p>
                      <a:pPr algn="ctr">
                        <a:lnSpc>
                          <a:spcPct val="107000"/>
                        </a:lnSpc>
                        <a:spcAft>
                          <a:spcPts val="800"/>
                        </a:spcAft>
                      </a:pPr>
                      <a:r>
                        <a:rPr lang="en-IN" sz="1400" kern="0" dirty="0">
                          <a:effectLst/>
                        </a:rPr>
                        <a:t>Ref</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pPr algn="ctr">
                        <a:lnSpc>
                          <a:spcPct val="107000"/>
                        </a:lnSpc>
                        <a:spcAft>
                          <a:spcPts val="800"/>
                        </a:spcAft>
                      </a:pPr>
                      <a:r>
                        <a:rPr lang="en-IN" sz="1400" kern="0" dirty="0">
                          <a:effectLst/>
                        </a:rPr>
                        <a:t>Journal</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pPr algn="ctr">
                        <a:lnSpc>
                          <a:spcPct val="107000"/>
                        </a:lnSpc>
                        <a:spcAft>
                          <a:spcPts val="800"/>
                        </a:spcAft>
                      </a:pPr>
                      <a:r>
                        <a:rPr lang="en-IN" sz="1400" kern="0" dirty="0">
                          <a:effectLst/>
                        </a:rPr>
                        <a:t>Published in</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pPr marR="28575" algn="ctr">
                        <a:lnSpc>
                          <a:spcPct val="107000"/>
                        </a:lnSpc>
                        <a:spcAft>
                          <a:spcPts val="800"/>
                        </a:spcAft>
                      </a:pPr>
                      <a:r>
                        <a:rPr lang="en-IN" sz="1400" kern="0" dirty="0">
                          <a:effectLst/>
                        </a:rPr>
                        <a:t>Title </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pPr marR="24765" algn="ctr">
                        <a:lnSpc>
                          <a:spcPct val="107000"/>
                        </a:lnSpc>
                        <a:spcAft>
                          <a:spcPts val="800"/>
                        </a:spcAft>
                      </a:pPr>
                      <a:r>
                        <a:rPr lang="en-IN" sz="1400" kern="0" dirty="0">
                          <a:effectLst/>
                        </a:rPr>
                        <a:t>Methodology</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extLst>
                  <a:ext uri="{0D108BD9-81ED-4DB2-BD59-A6C34878D82A}">
                    <a16:rowId xmlns:a16="http://schemas.microsoft.com/office/drawing/2014/main" val="10000"/>
                  </a:ext>
                </a:extLst>
              </a:tr>
              <a:tr h="1041441">
                <a:tc>
                  <a:txBody>
                    <a:bodyPr/>
                    <a:lstStyle/>
                    <a:p>
                      <a:pPr algn="just">
                        <a:lnSpc>
                          <a:spcPct val="107000"/>
                        </a:lnSpc>
                        <a:spcAft>
                          <a:spcPts val="800"/>
                        </a:spcAft>
                      </a:pPr>
                      <a:r>
                        <a:rPr lang="en-IN" sz="1400" kern="0" dirty="0">
                          <a:effectLst/>
                        </a:rPr>
                        <a:t>1</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tc>
                  <a:txBody>
                    <a:bodyPr/>
                    <a:lstStyle/>
                    <a:p>
                      <a:pPr algn="just">
                        <a:lnSpc>
                          <a:spcPct val="107000"/>
                        </a:lnSpc>
                        <a:spcAft>
                          <a:spcPts val="800"/>
                        </a:spcAft>
                      </a:pPr>
                      <a:r>
                        <a:rPr lang="en-IN" sz="1400" i="1" dirty="0">
                          <a:latin typeface="Aptos" panose="020B0004020202020204" pitchFamily="34" charset="0"/>
                        </a:rPr>
                        <a:t>IEEE TRANSACTIONS ON VEHICULAR TECHNOLOGY</a:t>
                      </a:r>
                      <a:endParaRPr lang="en-IN" sz="1400" i="1" kern="100" dirty="0">
                        <a:effectLst/>
                        <a:latin typeface="Aptos" panose="020B0004020202020204" pitchFamily="34"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tc>
                  <a:txBody>
                    <a:bodyPr/>
                    <a:lstStyle/>
                    <a:p>
                      <a:pPr algn="ctr">
                        <a:lnSpc>
                          <a:spcPct val="107000"/>
                        </a:lnSpc>
                        <a:spcAft>
                          <a:spcPts val="800"/>
                        </a:spcAft>
                      </a:pPr>
                      <a:r>
                        <a:rPr lang="en-IN" sz="1400" kern="0" dirty="0">
                          <a:effectLst/>
                        </a:rPr>
                        <a:t>2014</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tc>
                  <a:txBody>
                    <a:bodyPr/>
                    <a:lstStyle/>
                    <a:p>
                      <a:r>
                        <a:rPr lang="en-IN" sz="1300" kern="1200" dirty="0">
                          <a:solidFill>
                            <a:schemeClr val="tx1"/>
                          </a:solidFill>
                          <a:effectLst/>
                          <a:latin typeface="+mn-lt"/>
                          <a:ea typeface="+mn-ea"/>
                          <a:cs typeface="+mn-cs"/>
                        </a:rPr>
                        <a:t>A Convenient Vision-Based System for Automatic Detection of Parking Spaces in Indoor Parking Lots Using Wide-Angle Cameras.</a:t>
                      </a:r>
                    </a:p>
                  </a:txBody>
                  <a:tcPr marL="45209" marR="45209" marT="45209" marB="45209">
                    <a:solidFill>
                      <a:srgbClr val="7030A0">
                        <a:alpha val="20000"/>
                      </a:srgbClr>
                    </a:solidFill>
                  </a:tcPr>
                </a:tc>
                <a:tc>
                  <a:txBody>
                    <a:bodyPr/>
                    <a:lstStyle/>
                    <a:p>
                      <a:pPr marR="24765" algn="just">
                        <a:lnSpc>
                          <a:spcPct val="107000"/>
                        </a:lnSpc>
                        <a:spcAft>
                          <a:spcPts val="800"/>
                        </a:spcAft>
                      </a:pPr>
                      <a:r>
                        <a:rPr lang="en-GB" sz="1200" dirty="0"/>
                        <a:t>The paper introduces the problem of efficient parking space management in indoor parking lots. Explanation of how these cameras capture and transmit images or video feeds for parking space detection. The method achieves 99.67% accuracy in  parking space detection.</a:t>
                      </a:r>
                      <a:endParaRPr lang="en-IN" sz="12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extLst>
                  <a:ext uri="{0D108BD9-81ED-4DB2-BD59-A6C34878D82A}">
                    <a16:rowId xmlns:a16="http://schemas.microsoft.com/office/drawing/2014/main" val="10001"/>
                  </a:ext>
                </a:extLst>
              </a:tr>
              <a:tr h="1135328">
                <a:tc>
                  <a:txBody>
                    <a:bodyPr/>
                    <a:lstStyle/>
                    <a:p>
                      <a:pPr algn="just">
                        <a:lnSpc>
                          <a:spcPct val="107000"/>
                        </a:lnSpc>
                        <a:spcAft>
                          <a:spcPts val="800"/>
                        </a:spcAft>
                      </a:pPr>
                      <a:r>
                        <a:rPr lang="en-IN" sz="1400" kern="0">
                          <a:effectLst/>
                        </a:rPr>
                        <a:t>2</a:t>
                      </a:r>
                      <a:endParaRPr lang="en-IN" sz="1400" kern="10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r>
                        <a:rPr lang="en-GB" sz="1400" b="0" i="0" kern="1200" dirty="0">
                          <a:solidFill>
                            <a:schemeClr val="tx1"/>
                          </a:solidFill>
                          <a:effectLst/>
                          <a:latin typeface="Aptos" panose="020B0004020202020204" pitchFamily="34" charset="0"/>
                          <a:ea typeface="+mn-ea"/>
                          <a:cs typeface="+mn-cs"/>
                        </a:rPr>
                        <a:t>Smart Manufacturing Application</a:t>
                      </a:r>
                    </a:p>
                    <a:p>
                      <a:r>
                        <a:rPr lang="en-GB" sz="1400" b="0" i="0" kern="1200" dirty="0">
                          <a:solidFill>
                            <a:schemeClr val="tx1"/>
                          </a:solidFill>
                          <a:effectLst/>
                          <a:latin typeface="Aptos" panose="020B0004020202020204" pitchFamily="34" charset="0"/>
                          <a:ea typeface="+mn-ea"/>
                          <a:cs typeface="+mn-cs"/>
                        </a:rPr>
                        <a:t>Published: 2008</a:t>
                      </a:r>
                    </a:p>
                  </a:txBody>
                  <a:tcPr marL="45209" marR="45209" marT="45209" marB="45209"/>
                </a:tc>
                <a:tc>
                  <a:txBody>
                    <a:bodyPr/>
                    <a:lstStyle/>
                    <a:p>
                      <a:pPr algn="ctr">
                        <a:lnSpc>
                          <a:spcPct val="107000"/>
                        </a:lnSpc>
                        <a:spcAft>
                          <a:spcPts val="800"/>
                        </a:spcAft>
                      </a:pPr>
                      <a:r>
                        <a:rPr lang="en-IN" sz="1400" b="0" kern="0" dirty="0">
                          <a:effectLst/>
                        </a:rPr>
                        <a:t>2014</a:t>
                      </a:r>
                      <a:endParaRPr lang="en-IN" sz="1400" b="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r>
                        <a:rPr lang="en-IN" sz="1600" kern="1200" dirty="0">
                          <a:solidFill>
                            <a:schemeClr val="tx1"/>
                          </a:solidFill>
                          <a:effectLst/>
                          <a:latin typeface="Aptos" panose="020B0004020202020204" pitchFamily="34" charset="0"/>
                          <a:ea typeface="+mn-ea"/>
                          <a:cs typeface="+mn-cs"/>
                        </a:rPr>
                        <a:t>A multi-classifier image based vacant parking detection system</a:t>
                      </a:r>
                    </a:p>
                  </a:txBody>
                  <a:tcPr marL="45209" marR="45209" marT="45209" marB="45209"/>
                </a:tc>
                <a:tc>
                  <a:txBody>
                    <a:bodyPr/>
                    <a:lstStyle/>
                    <a:p>
                      <a:r>
                        <a:rPr lang="en-GB" sz="1400" dirty="0"/>
                        <a:t>Introduction to the problem of efficiently detecting vacant parking spaces using computer vision techniques. Explanation of how the system integrates with cameras or sensors to capture images of parking areas. The method </a:t>
                      </a:r>
                      <a:r>
                        <a:rPr lang="en-GB" sz="1400" dirty="0" err="1"/>
                        <a:t>arhieves</a:t>
                      </a:r>
                      <a:r>
                        <a:rPr lang="en-GB" sz="1400" dirty="0"/>
                        <a:t> 92.4 accuracy in parking space detection.</a:t>
                      </a:r>
                      <a:endParaRPr lang="en-IN" sz="1400" b="0" dirty="0">
                        <a:effectLst/>
                        <a:latin typeface="Montserrat" panose="00000500000000000000" charset="0"/>
                      </a:endParaRPr>
                    </a:p>
                  </a:txBody>
                  <a:tcPr marL="45209" marR="45209" marT="45209" marB="45209"/>
                </a:tc>
                <a:extLst>
                  <a:ext uri="{0D108BD9-81ED-4DB2-BD59-A6C34878D82A}">
                    <a16:rowId xmlns:a16="http://schemas.microsoft.com/office/drawing/2014/main" val="10002"/>
                  </a:ext>
                </a:extLst>
              </a:tr>
              <a:tr h="1114852">
                <a:tc>
                  <a:txBody>
                    <a:bodyPr/>
                    <a:lstStyle/>
                    <a:p>
                      <a:pPr algn="just">
                        <a:lnSpc>
                          <a:spcPct val="107000"/>
                        </a:lnSpc>
                        <a:spcAft>
                          <a:spcPts val="800"/>
                        </a:spcAft>
                      </a:pPr>
                      <a:r>
                        <a:rPr lang="en-IN" sz="1400" b="1" kern="0" dirty="0">
                          <a:effectLst/>
                        </a:rPr>
                        <a:t>3</a:t>
                      </a:r>
                      <a:endParaRPr lang="en-IN" sz="1400" b="1"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tc>
                  <a:txBody>
                    <a:bodyPr/>
                    <a:lstStyle/>
                    <a:p>
                      <a:pPr marL="0" marR="0"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200" b="0" i="0" kern="1200" dirty="0">
                          <a:solidFill>
                            <a:schemeClr val="tx1"/>
                          </a:solidFill>
                          <a:effectLst/>
                          <a:latin typeface="Aptos" panose="020B0004020202020204" pitchFamily="34" charset="0"/>
                          <a:ea typeface="+mn-ea"/>
                          <a:cs typeface="+mn-cs"/>
                        </a:rPr>
                        <a:t>2005 International Conference on MEMS,NANO and Smart Systems</a:t>
                      </a:r>
                      <a:endParaRPr lang="en-IN" sz="1200" b="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tc>
                  <a:txBody>
                    <a:bodyPr/>
                    <a:lstStyle/>
                    <a:p>
                      <a:pPr algn="ctr">
                        <a:lnSpc>
                          <a:spcPct val="107000"/>
                        </a:lnSpc>
                        <a:spcAft>
                          <a:spcPts val="800"/>
                        </a:spcAft>
                      </a:pPr>
                      <a:r>
                        <a:rPr lang="en-IN" sz="1400" b="0" kern="100" dirty="0">
                          <a:effectLst/>
                        </a:rPr>
                        <a:t>2018</a:t>
                      </a:r>
                      <a:endParaRPr lang="en-IN" sz="1400" b="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tc>
                  <a:txBody>
                    <a:bodyPr/>
                    <a:lstStyle/>
                    <a:p>
                      <a:r>
                        <a:rPr lang="en-IN" sz="1400" kern="1200" dirty="0">
                          <a:solidFill>
                            <a:schemeClr val="tx1"/>
                          </a:solidFill>
                          <a:effectLst/>
                          <a:latin typeface="Aptos" panose="020B0004020202020204" pitchFamily="34" charset="0"/>
                          <a:ea typeface="+mn-ea"/>
                          <a:cs typeface="+mn-cs"/>
                        </a:rPr>
                        <a:t>A Review on Automatic Parking Space Occupancy Detection</a:t>
                      </a:r>
                    </a:p>
                  </a:txBody>
                  <a:tcPr marL="45209" marR="45209" marT="45209" marB="45209">
                    <a:solidFill>
                      <a:srgbClr val="7030A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GB" sz="1400" dirty="0"/>
                        <a:t>The paper would review different techniques and technologies used for detecting parking space occupancy. provides an overview and analysis of various methods, techniques, and technologies used in the field of automatic parking space occupancy detection. With 85.4% accuracy.</a:t>
                      </a:r>
                      <a:endParaRPr lang="en-IN" sz="1400" b="1"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solidFill>
                      <a:srgbClr val="7030A0">
                        <a:alpha val="20000"/>
                      </a:srgbClr>
                    </a:solidFill>
                  </a:tcPr>
                </a:tc>
                <a:extLst>
                  <a:ext uri="{0D108BD9-81ED-4DB2-BD59-A6C34878D82A}">
                    <a16:rowId xmlns:a16="http://schemas.microsoft.com/office/drawing/2014/main" val="10003"/>
                  </a:ext>
                </a:extLst>
              </a:tr>
              <a:tr h="1097433">
                <a:tc>
                  <a:txBody>
                    <a:bodyPr/>
                    <a:lstStyle/>
                    <a:p>
                      <a:pPr algn="just">
                        <a:lnSpc>
                          <a:spcPct val="107000"/>
                        </a:lnSpc>
                        <a:spcAft>
                          <a:spcPts val="800"/>
                        </a:spcAft>
                      </a:pPr>
                      <a:r>
                        <a:rPr lang="en-IN" sz="1400" kern="0">
                          <a:effectLst/>
                        </a:rPr>
                        <a:t>4</a:t>
                      </a:r>
                      <a:endParaRPr lang="en-IN" sz="1400" kern="10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pPr algn="just" rtl="0" fontAlgn="t">
                        <a:spcBef>
                          <a:spcPts val="0"/>
                        </a:spcBef>
                        <a:spcAft>
                          <a:spcPts val="800"/>
                        </a:spcAft>
                      </a:pPr>
                      <a:r>
                        <a:rPr lang="en-GB" sz="1300" b="0" i="0" kern="1200" dirty="0">
                          <a:solidFill>
                            <a:schemeClr val="tx1"/>
                          </a:solidFill>
                          <a:effectLst/>
                          <a:latin typeface="Aptos" panose="020B0004020202020204" pitchFamily="34" charset="0"/>
                          <a:ea typeface="+mn-ea"/>
                          <a:cs typeface="+mn-cs"/>
                        </a:rPr>
                        <a:t>2017 IEEE Global Conference on Signal and Information Processing .</a:t>
                      </a:r>
                      <a:endParaRPr lang="en-IN" sz="1300" b="0" dirty="0">
                        <a:effectLst/>
                        <a:latin typeface="Aptos" panose="020B0004020202020204" pitchFamily="34" charset="0"/>
                      </a:endParaRPr>
                    </a:p>
                  </a:txBody>
                  <a:tcPr marL="63500" marR="63500" marT="63500" marB="63500"/>
                </a:tc>
                <a:tc>
                  <a:txBody>
                    <a:bodyPr/>
                    <a:lstStyle/>
                    <a:p>
                      <a:pPr algn="ctr">
                        <a:lnSpc>
                          <a:spcPct val="107000"/>
                        </a:lnSpc>
                        <a:spcAft>
                          <a:spcPts val="800"/>
                        </a:spcAft>
                      </a:pPr>
                      <a:r>
                        <a:rPr lang="en-IN" sz="1400" kern="0" dirty="0">
                          <a:effectLst/>
                        </a:rPr>
                        <a:t>2018</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tc>
                  <a:txBody>
                    <a:bodyPr/>
                    <a:lstStyle/>
                    <a:p>
                      <a:pPr rtl="0" fontAlgn="t">
                        <a:spcBef>
                          <a:spcPts val="0"/>
                        </a:spcBef>
                        <a:spcAft>
                          <a:spcPts val="0"/>
                        </a:spcAft>
                      </a:pPr>
                      <a:r>
                        <a:rPr lang="en-GB" sz="1400" dirty="0">
                          <a:latin typeface="Aptos" panose="020B0004020202020204" pitchFamily="34" charset="0"/>
                        </a:rPr>
                        <a:t>Smart parking in the smart city application</a:t>
                      </a:r>
                      <a:endParaRPr lang="en-US" sz="1400" dirty="0">
                        <a:effectLst/>
                        <a:latin typeface="Aptos" panose="020B0004020202020204" pitchFamily="34" charset="0"/>
                      </a:endParaRPr>
                    </a:p>
                  </a:txBody>
                  <a:tcPr marL="63500" marR="63500" marT="63500" marB="63500"/>
                </a:tc>
                <a:tc>
                  <a:txBody>
                    <a:bodyPr/>
                    <a:lstStyle/>
                    <a:p>
                      <a:pPr marR="24765" algn="just">
                        <a:lnSpc>
                          <a:spcPct val="107000"/>
                        </a:lnSpc>
                        <a:spcAft>
                          <a:spcPts val="800"/>
                        </a:spcAft>
                      </a:pPr>
                      <a:r>
                        <a:rPr lang="en-GB" sz="1400" dirty="0"/>
                        <a:t>It would provide an overview of what constitutes a smart city, emphasizing the role of technology in improving urban efficiency, sustainability, and quality of life. The introduction would also define smart parking and its importance in urban mobility management. With  90.7% of accuracy.</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45209" marR="45209" marT="45209" marB="45209"/>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69023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483360" y="1122363"/>
            <a:ext cx="9184640" cy="259397"/>
          </a:xfrm>
        </p:spPr>
        <p:txBody>
          <a:bodyPr>
            <a:normAutofit fontScale="90000"/>
          </a:bodyPr>
          <a:lstStyle/>
          <a:p>
            <a:r>
              <a:rPr lang="en-GB" b="1" dirty="0">
                <a:latin typeface="Montserrat" panose="00000500000000000000"/>
                <a:ea typeface="Montserrat" panose="00000500000000000000"/>
                <a:cs typeface="Montserrat" panose="00000500000000000000"/>
                <a:sym typeface="Montserrat" panose="00000500000000000000"/>
              </a:rPr>
              <a:t>Literature Survey</a:t>
            </a:r>
            <a:endParaRPr lang="en-IN" dirty="0"/>
          </a:p>
        </p:txBody>
      </p:sp>
      <p:graphicFrame>
        <p:nvGraphicFramePr>
          <p:cNvPr id="4" name="Table 3">
            <a:extLst>
              <a:ext uri="{FF2B5EF4-FFF2-40B4-BE49-F238E27FC236}">
                <a16:creationId xmlns:a16="http://schemas.microsoft.com/office/drawing/2014/main" id="{A31DEB31-D73A-84D7-C67E-91810C0C0EE2}"/>
              </a:ext>
            </a:extLst>
          </p:cNvPr>
          <p:cNvGraphicFramePr>
            <a:graphicFrameLocks noGrp="1"/>
          </p:cNvGraphicFramePr>
          <p:nvPr>
            <p:extLst>
              <p:ext uri="{D42A27DB-BD31-4B8C-83A1-F6EECF244321}">
                <p14:modId xmlns:p14="http://schemas.microsoft.com/office/powerpoint/2010/main" val="3806071129"/>
              </p:ext>
            </p:extLst>
          </p:nvPr>
        </p:nvGraphicFramePr>
        <p:xfrm>
          <a:off x="914400" y="1563328"/>
          <a:ext cx="10416988" cy="4916130"/>
        </p:xfrm>
        <a:graphic>
          <a:graphicData uri="http://schemas.openxmlformats.org/drawingml/2006/table">
            <a:tbl>
              <a:tblPr firstRow="1" firstCol="1" bandRow="1">
                <a:tableStyleId>{9D7B26C5-4107-4FEC-AEDC-1716B250A1EF}</a:tableStyleId>
              </a:tblPr>
              <a:tblGrid>
                <a:gridCol w="444531">
                  <a:extLst>
                    <a:ext uri="{9D8B030D-6E8A-4147-A177-3AD203B41FA5}">
                      <a16:colId xmlns:a16="http://schemas.microsoft.com/office/drawing/2014/main" val="20000"/>
                    </a:ext>
                  </a:extLst>
                </a:gridCol>
                <a:gridCol w="1064807">
                  <a:extLst>
                    <a:ext uri="{9D8B030D-6E8A-4147-A177-3AD203B41FA5}">
                      <a16:colId xmlns:a16="http://schemas.microsoft.com/office/drawing/2014/main" val="20001"/>
                    </a:ext>
                  </a:extLst>
                </a:gridCol>
                <a:gridCol w="924068">
                  <a:extLst>
                    <a:ext uri="{9D8B030D-6E8A-4147-A177-3AD203B41FA5}">
                      <a16:colId xmlns:a16="http://schemas.microsoft.com/office/drawing/2014/main" val="20002"/>
                    </a:ext>
                  </a:extLst>
                </a:gridCol>
                <a:gridCol w="2572635">
                  <a:extLst>
                    <a:ext uri="{9D8B030D-6E8A-4147-A177-3AD203B41FA5}">
                      <a16:colId xmlns:a16="http://schemas.microsoft.com/office/drawing/2014/main" val="20003"/>
                    </a:ext>
                  </a:extLst>
                </a:gridCol>
                <a:gridCol w="5410947">
                  <a:extLst>
                    <a:ext uri="{9D8B030D-6E8A-4147-A177-3AD203B41FA5}">
                      <a16:colId xmlns:a16="http://schemas.microsoft.com/office/drawing/2014/main" val="20004"/>
                    </a:ext>
                  </a:extLst>
                </a:gridCol>
              </a:tblGrid>
              <a:tr h="1581023">
                <a:tc>
                  <a:txBody>
                    <a:bodyPr/>
                    <a:lstStyle/>
                    <a:p>
                      <a:pPr algn="just">
                        <a:lnSpc>
                          <a:spcPct val="107000"/>
                        </a:lnSpc>
                        <a:spcAft>
                          <a:spcPts val="800"/>
                        </a:spcAft>
                      </a:pPr>
                      <a:r>
                        <a:rPr lang="en-IN" sz="1400" kern="0" dirty="0">
                          <a:effectLst/>
                          <a:latin typeface="Aptos" panose="020B0004020202020204" pitchFamily="34" charset="0"/>
                        </a:rPr>
                        <a:t>5</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1300" b="0" i="0" kern="1200" dirty="0">
                          <a:solidFill>
                            <a:schemeClr val="tx1"/>
                          </a:solidFill>
                          <a:effectLst/>
                          <a:latin typeface="Aptos" panose="020B0004020202020204" pitchFamily="34" charset="0"/>
                          <a:ea typeface="+mn-ea"/>
                          <a:cs typeface="+mn-cs"/>
                        </a:rPr>
                        <a:t>International Conference on Industrial Mechatronics and Automation</a:t>
                      </a:r>
                      <a:endParaRPr lang="en-IN" sz="1300" b="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algn="ctr">
                        <a:lnSpc>
                          <a:spcPct val="107000"/>
                        </a:lnSpc>
                        <a:spcAft>
                          <a:spcPts val="800"/>
                        </a:spcAft>
                      </a:pPr>
                      <a:r>
                        <a:rPr lang="en-IN" sz="1400" b="0" dirty="0"/>
                        <a:t>2017</a:t>
                      </a:r>
                      <a:endParaRPr lang="en-IN" sz="1400" b="0" kern="100" dirty="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tc>
                <a:tc>
                  <a:txBody>
                    <a:bodyPr/>
                    <a:lstStyle/>
                    <a:p>
                      <a:r>
                        <a:rPr lang="en-IN" sz="1400" b="0" kern="1200" dirty="0">
                          <a:solidFill>
                            <a:schemeClr val="tx1"/>
                          </a:solidFill>
                          <a:effectLst/>
                          <a:latin typeface="Aptos" panose="020B0004020202020204" pitchFamily="34" charset="0"/>
                          <a:ea typeface="+mn-ea"/>
                          <a:cs typeface="+mn-cs"/>
                        </a:rPr>
                        <a:t>Study on Parking Spaces </a:t>
                      </a:r>
                      <a:r>
                        <a:rPr lang="en-IN" sz="1400" b="0" kern="1200" dirty="0" err="1">
                          <a:solidFill>
                            <a:schemeClr val="tx1"/>
                          </a:solidFill>
                          <a:effectLst/>
                          <a:latin typeface="Aptos" panose="020B0004020202020204" pitchFamily="34" charset="0"/>
                          <a:ea typeface="+mn-ea"/>
                          <a:cs typeface="+mn-cs"/>
                        </a:rPr>
                        <a:t>Analyzing</a:t>
                      </a:r>
                      <a:r>
                        <a:rPr lang="en-IN" sz="1400" b="0" kern="1200" dirty="0">
                          <a:solidFill>
                            <a:schemeClr val="tx1"/>
                          </a:solidFill>
                          <a:effectLst/>
                          <a:latin typeface="Aptos" panose="020B0004020202020204" pitchFamily="34" charset="0"/>
                          <a:ea typeface="+mn-ea"/>
                          <a:cs typeface="+mn-cs"/>
                        </a:rPr>
                        <a:t> and Guiding System Based on Video</a:t>
                      </a:r>
                    </a:p>
                    <a:p>
                      <a:pPr marR="28575" algn="just">
                        <a:lnSpc>
                          <a:spcPct val="107000"/>
                        </a:lnSpc>
                        <a:spcAft>
                          <a:spcPts val="800"/>
                        </a:spcAft>
                      </a:pPr>
                      <a:endParaRPr lang="en-IN" sz="1400" b="0" kern="100" dirty="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tc>
                <a:tc>
                  <a:txBody>
                    <a:bodyPr/>
                    <a:lstStyle/>
                    <a:p>
                      <a:pPr marL="0" marR="24765"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400" b="0" dirty="0">
                          <a:latin typeface="Aptos" panose="020B0004020202020204" pitchFamily="34" charset="0"/>
                        </a:rPr>
                        <a:t>Discuss the role of video-based systems in addressing these challenges, particularly in automating the detection, analysis, and guidance of parking spaces. This method is a </a:t>
                      </a:r>
                      <a:r>
                        <a:rPr lang="en-IN" sz="1400" b="0" dirty="0">
                          <a:latin typeface="Aptos" panose="020B0004020202020204" pitchFamily="34" charset="0"/>
                        </a:rPr>
                        <a:t>Advantages of Video-Based Systems. With a accuracy of 98.4% using OpenCV method.</a:t>
                      </a:r>
                      <a:endParaRPr lang="en-IN" sz="1400" b="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extLst>
                  <a:ext uri="{0D108BD9-81ED-4DB2-BD59-A6C34878D82A}">
                    <a16:rowId xmlns:a16="http://schemas.microsoft.com/office/drawing/2014/main" val="10000"/>
                  </a:ext>
                </a:extLst>
              </a:tr>
              <a:tr h="1751743">
                <a:tc>
                  <a:txBody>
                    <a:bodyPr/>
                    <a:lstStyle/>
                    <a:p>
                      <a:pPr algn="just">
                        <a:lnSpc>
                          <a:spcPct val="107000"/>
                        </a:lnSpc>
                        <a:spcAft>
                          <a:spcPts val="800"/>
                        </a:spcAft>
                      </a:pPr>
                      <a:r>
                        <a:rPr lang="en-IN" sz="1400" kern="0">
                          <a:effectLst/>
                        </a:rPr>
                        <a:t>6</a:t>
                      </a:r>
                      <a:endParaRPr lang="en-IN" sz="1400" kern="10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solidFill>
                      <a:srgbClr val="7030A0">
                        <a:alpha val="20000"/>
                      </a:srgbClr>
                    </a:solidFill>
                  </a:tcPr>
                </a:tc>
                <a:tc>
                  <a:txBody>
                    <a:bodyPr/>
                    <a:lstStyle/>
                    <a:p>
                      <a:pPr algn="just">
                        <a:lnSpc>
                          <a:spcPct val="107000"/>
                        </a:lnSpc>
                        <a:spcAft>
                          <a:spcPts val="800"/>
                        </a:spcAft>
                      </a:pPr>
                      <a:r>
                        <a:rPr lang="en-GB" sz="1400" dirty="0"/>
                        <a:t>Control and System Graduate Research Colloquium</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solidFill>
                      <a:srgbClr val="7030A0">
                        <a:alpha val="20000"/>
                      </a:srgbClr>
                    </a:solidFill>
                  </a:tcPr>
                </a:tc>
                <a:tc>
                  <a:txBody>
                    <a:bodyPr/>
                    <a:lstStyle/>
                    <a:p>
                      <a:pPr algn="ctr">
                        <a:lnSpc>
                          <a:spcPct val="107000"/>
                        </a:lnSpc>
                        <a:spcAft>
                          <a:spcPts val="800"/>
                        </a:spcAft>
                      </a:pPr>
                      <a:r>
                        <a:rPr lang="en-IN" sz="1400" kern="0" dirty="0">
                          <a:effectLst/>
                        </a:rPr>
                        <a:t>2017</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solidFill>
                      <a:srgbClr val="7030A0">
                        <a:alpha val="20000"/>
                      </a:srgbClr>
                    </a:solidFill>
                  </a:tcPr>
                </a:tc>
                <a:tc>
                  <a:txBody>
                    <a:bodyPr/>
                    <a:lstStyle/>
                    <a:p>
                      <a:r>
                        <a:rPr lang="en-GB" sz="1600" dirty="0"/>
                        <a:t>Mobile Outdoor Parking Space Detection Application</a:t>
                      </a:r>
                      <a:endParaRPr lang="en-US" sz="1600" b="0" i="0" u="none" strike="noStrike" cap="none" dirty="0">
                        <a:solidFill>
                          <a:schemeClr val="tx1"/>
                        </a:solidFill>
                        <a:effectLst/>
                        <a:latin typeface="Montserrat" panose="00000500000000000000" charset="0"/>
                        <a:ea typeface="+mn-ea"/>
                        <a:cs typeface="+mn-cs"/>
                        <a:sym typeface="Arial" panose="020B0604020202020204"/>
                      </a:endParaRPr>
                    </a:p>
                  </a:txBody>
                  <a:tcPr marL="56022" marR="56022" marT="56022" marB="56022">
                    <a:solidFill>
                      <a:srgbClr val="7030A0">
                        <a:alpha val="20000"/>
                      </a:srgbClr>
                    </a:solidFill>
                  </a:tcPr>
                </a:tc>
                <a:tc>
                  <a:txBody>
                    <a:bodyPr/>
                    <a:lstStyle/>
                    <a:p>
                      <a:pPr marR="25400" algn="just" rtl="0" fontAlgn="t">
                        <a:spcBef>
                          <a:spcPts val="0"/>
                        </a:spcBef>
                        <a:spcAft>
                          <a:spcPts val="800"/>
                        </a:spcAft>
                      </a:pPr>
                      <a:r>
                        <a:rPr lang="en-GB" sz="1400" dirty="0">
                          <a:latin typeface="Aptos" panose="020B0004020202020204" pitchFamily="34" charset="0"/>
                        </a:rPr>
                        <a:t>This research paper focus on the development and evaluation of a mobile application designed to detect and assist users in finding outdoor parking spaces. </a:t>
                      </a:r>
                      <a:r>
                        <a:rPr lang="en-GB" sz="1400" b="0" i="0" kern="1200" dirty="0">
                          <a:solidFill>
                            <a:schemeClr val="tx1"/>
                          </a:solidFill>
                          <a:effectLst/>
                          <a:latin typeface="Aptos" panose="020B0004020202020204" pitchFamily="34" charset="0"/>
                          <a:ea typeface="+mn-ea"/>
                          <a:cs typeface="+mn-cs"/>
                        </a:rPr>
                        <a:t>The system integrates various techniques such as computer vision, image processing, and deep learning for accurate and reliable parking space detection</a:t>
                      </a:r>
                      <a:r>
                        <a:rPr lang="en-GB" sz="1800" b="0" i="0" kern="1200" dirty="0">
                          <a:solidFill>
                            <a:schemeClr val="tx1"/>
                          </a:solidFill>
                          <a:effectLst/>
                          <a:latin typeface="Aptos" panose="020B0004020202020204" pitchFamily="34" charset="0"/>
                          <a:ea typeface="+mn-ea"/>
                          <a:cs typeface="+mn-cs"/>
                        </a:rPr>
                        <a:t>. </a:t>
                      </a:r>
                      <a:r>
                        <a:rPr lang="en-GB" sz="1400" b="0" i="0" kern="1200" dirty="0">
                          <a:solidFill>
                            <a:schemeClr val="tx1"/>
                          </a:solidFill>
                          <a:effectLst/>
                          <a:latin typeface="Aptos" panose="020B0004020202020204" pitchFamily="34" charset="0"/>
                          <a:ea typeface="+mn-ea"/>
                          <a:cs typeface="+mn-cs"/>
                        </a:rPr>
                        <a:t>With a accuracy of 99.1%.</a:t>
                      </a:r>
                      <a:endParaRPr lang="en-IN" sz="1400" dirty="0">
                        <a:effectLst/>
                        <a:latin typeface="Aptos" panose="020B0004020202020204" pitchFamily="34" charset="0"/>
                      </a:endParaRPr>
                    </a:p>
                  </a:txBody>
                  <a:tcPr marL="63500" marR="63500" marT="63500" marB="63500">
                    <a:solidFill>
                      <a:srgbClr val="7030A0">
                        <a:alpha val="20000"/>
                      </a:srgbClr>
                    </a:solidFill>
                  </a:tcPr>
                </a:tc>
                <a:extLst>
                  <a:ext uri="{0D108BD9-81ED-4DB2-BD59-A6C34878D82A}">
                    <a16:rowId xmlns:a16="http://schemas.microsoft.com/office/drawing/2014/main" val="10001"/>
                  </a:ext>
                </a:extLst>
              </a:tr>
              <a:tr h="1583364">
                <a:tc>
                  <a:txBody>
                    <a:bodyPr/>
                    <a:lstStyle/>
                    <a:p>
                      <a:pPr algn="just">
                        <a:lnSpc>
                          <a:spcPct val="107000"/>
                        </a:lnSpc>
                        <a:spcAft>
                          <a:spcPts val="800"/>
                        </a:spcAft>
                      </a:pPr>
                      <a:r>
                        <a:rPr lang="en-IN" sz="1400" kern="0">
                          <a:effectLst/>
                        </a:rPr>
                        <a:t>7</a:t>
                      </a:r>
                      <a:endParaRPr lang="en-IN" sz="1400" kern="10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tc>
                <a:tc>
                  <a:txBody>
                    <a:bodyPr/>
                    <a:lstStyle/>
                    <a:p>
                      <a:pPr marL="0" marR="0"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300" dirty="0">
                          <a:latin typeface="Aptos" panose="020B0004020202020204" pitchFamily="34" charset="0"/>
                        </a:rPr>
                        <a:t>International Conference on Multimedia and Image Processing</a:t>
                      </a:r>
                      <a:endParaRPr lang="en-IN" sz="13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algn="ctr">
                        <a:lnSpc>
                          <a:spcPct val="107000"/>
                        </a:lnSpc>
                        <a:spcAft>
                          <a:spcPts val="800"/>
                        </a:spcAft>
                      </a:pPr>
                      <a:r>
                        <a:rPr lang="en-IN" sz="1400" kern="100" dirty="0">
                          <a:effectLst/>
                        </a:rPr>
                        <a:t>2017</a:t>
                      </a:r>
                      <a:endParaRPr lang="en-IN" sz="1400" kern="100" dirty="0">
                        <a:effectLst/>
                        <a:latin typeface="Montserrat" panose="00000500000000000000" charset="0"/>
                        <a:ea typeface="Calibri" panose="020F0502020204030204" pitchFamily="34" charset="0"/>
                        <a:cs typeface="Times New Roman" panose="02020603050405020304" pitchFamily="18" charset="0"/>
                      </a:endParaRPr>
                    </a:p>
                  </a:txBody>
                  <a:tcPr marL="56022" marR="56022" marT="56022" marB="56022"/>
                </a:tc>
                <a:tc>
                  <a:txBody>
                    <a:bodyPr/>
                    <a:lstStyle/>
                    <a:p>
                      <a:pPr marL="0" marR="28575"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400" dirty="0">
                          <a:latin typeface="Aptos" panose="020B0004020202020204" pitchFamily="34" charset="0"/>
                        </a:rPr>
                        <a:t>Automatic Parking Space Detection System </a:t>
                      </a:r>
                      <a:endParaRPr lang="en-US" sz="1400" b="0" i="0" u="none" strike="noStrike" cap="none" dirty="0">
                        <a:solidFill>
                          <a:schemeClr val="tx1"/>
                        </a:solidFill>
                        <a:effectLst/>
                        <a:latin typeface="Aptos" panose="020B0004020202020204" pitchFamily="34" charset="0"/>
                        <a:ea typeface="+mn-ea"/>
                        <a:cs typeface="+mn-cs"/>
                        <a:sym typeface="Arial" panose="020B0604020202020204"/>
                      </a:endParaRPr>
                    </a:p>
                  </a:txBody>
                  <a:tcPr marL="56022" marR="56022" marT="56022" marB="56022"/>
                </a:tc>
                <a:tc>
                  <a:txBody>
                    <a:bodyPr/>
                    <a:lstStyle/>
                    <a:p>
                      <a:pPr marL="0" marR="24765"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400" b="0" i="0" kern="1200" dirty="0">
                          <a:solidFill>
                            <a:schemeClr val="tx1"/>
                          </a:solidFill>
                          <a:effectLst/>
                          <a:latin typeface="Aptos" panose="020B0004020202020204" pitchFamily="34" charset="0"/>
                          <a:ea typeface="+mn-ea"/>
                          <a:cs typeface="+mn-cs"/>
                        </a:rPr>
                        <a:t>The paper proposes a vision-based smart parking framework to assist drivers in efficiently finding and reserving suitable parking spaces.</a:t>
                      </a:r>
                      <a:r>
                        <a:rPr lang="en-GB" sz="1800" b="0" i="0" kern="1200" dirty="0">
                          <a:solidFill>
                            <a:schemeClr val="tx1"/>
                          </a:solidFill>
                          <a:effectLst/>
                          <a:latin typeface="Aptos" panose="020B0004020202020204" pitchFamily="34" charset="0"/>
                          <a:ea typeface="+mn-ea"/>
                          <a:cs typeface="+mn-cs"/>
                        </a:rPr>
                        <a:t> </a:t>
                      </a:r>
                      <a:r>
                        <a:rPr lang="en-GB" sz="1400" b="0" i="0" kern="1200" dirty="0">
                          <a:solidFill>
                            <a:schemeClr val="tx1"/>
                          </a:solidFill>
                          <a:effectLst/>
                          <a:latin typeface="Aptos" panose="020B0004020202020204" pitchFamily="34" charset="0"/>
                          <a:ea typeface="+mn-ea"/>
                          <a:cs typeface="+mn-cs"/>
                        </a:rPr>
                        <a:t>The system utilizes computer vision and image processing techniques to detect available parking spaces in real-time by </a:t>
                      </a:r>
                      <a:r>
                        <a:rPr lang="en-GB" sz="1400" b="0" i="0" kern="1200" dirty="0" err="1">
                          <a:solidFill>
                            <a:schemeClr val="tx1"/>
                          </a:solidFill>
                          <a:effectLst/>
                          <a:latin typeface="Aptos" panose="020B0004020202020204" pitchFamily="34" charset="0"/>
                          <a:ea typeface="+mn-ea"/>
                          <a:cs typeface="+mn-cs"/>
                        </a:rPr>
                        <a:t>analyzing</a:t>
                      </a:r>
                      <a:r>
                        <a:rPr lang="en-GB" sz="1400" b="0" i="0" kern="1200" dirty="0">
                          <a:solidFill>
                            <a:schemeClr val="tx1"/>
                          </a:solidFill>
                          <a:effectLst/>
                          <a:latin typeface="Aptos" panose="020B0004020202020204" pitchFamily="34" charset="0"/>
                          <a:ea typeface="+mn-ea"/>
                          <a:cs typeface="+mn-cs"/>
                        </a:rPr>
                        <a:t> video footage from a camera with a top-down view of the parking area. With a accuracy 94.6%.</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2285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483360" y="1122363"/>
            <a:ext cx="9184640" cy="259397"/>
          </a:xfrm>
        </p:spPr>
        <p:txBody>
          <a:bodyPr>
            <a:normAutofit fontScale="90000"/>
          </a:bodyPr>
          <a:lstStyle/>
          <a:p>
            <a:r>
              <a:rPr lang="en-GB" b="1" dirty="0">
                <a:latin typeface="Montserrat" panose="00000500000000000000"/>
                <a:ea typeface="Montserrat" panose="00000500000000000000"/>
                <a:cs typeface="Montserrat" panose="00000500000000000000"/>
                <a:sym typeface="Montserrat" panose="00000500000000000000"/>
              </a:rPr>
              <a:t>Literature Survey</a:t>
            </a:r>
            <a:endParaRPr lang="en-IN" dirty="0"/>
          </a:p>
        </p:txBody>
      </p:sp>
      <p:graphicFrame>
        <p:nvGraphicFramePr>
          <p:cNvPr id="4" name="Table 3">
            <a:extLst>
              <a:ext uri="{FF2B5EF4-FFF2-40B4-BE49-F238E27FC236}">
                <a16:creationId xmlns:a16="http://schemas.microsoft.com/office/drawing/2014/main" id="{A31DEB31-D73A-84D7-C67E-91810C0C0EE2}"/>
              </a:ext>
            </a:extLst>
          </p:cNvPr>
          <p:cNvGraphicFramePr>
            <a:graphicFrameLocks noGrp="1"/>
          </p:cNvGraphicFramePr>
          <p:nvPr>
            <p:extLst>
              <p:ext uri="{D42A27DB-BD31-4B8C-83A1-F6EECF244321}">
                <p14:modId xmlns:p14="http://schemas.microsoft.com/office/powerpoint/2010/main" val="111502203"/>
              </p:ext>
            </p:extLst>
          </p:nvPr>
        </p:nvGraphicFramePr>
        <p:xfrm>
          <a:off x="226143" y="1494504"/>
          <a:ext cx="11336595" cy="4781085"/>
        </p:xfrm>
        <a:graphic>
          <a:graphicData uri="http://schemas.openxmlformats.org/drawingml/2006/table">
            <a:tbl>
              <a:tblPr firstRow="1" firstCol="1" bandRow="1">
                <a:tableStyleId>{9D7B26C5-4107-4FEC-AEDC-1716B250A1EF}</a:tableStyleId>
              </a:tblPr>
              <a:tblGrid>
                <a:gridCol w="505877">
                  <a:extLst>
                    <a:ext uri="{9D8B030D-6E8A-4147-A177-3AD203B41FA5}">
                      <a16:colId xmlns:a16="http://schemas.microsoft.com/office/drawing/2014/main" val="20000"/>
                    </a:ext>
                  </a:extLst>
                </a:gridCol>
                <a:gridCol w="1156448">
                  <a:extLst>
                    <a:ext uri="{9D8B030D-6E8A-4147-A177-3AD203B41FA5}">
                      <a16:colId xmlns:a16="http://schemas.microsoft.com/office/drawing/2014/main" val="20001"/>
                    </a:ext>
                  </a:extLst>
                </a:gridCol>
                <a:gridCol w="1003596">
                  <a:extLst>
                    <a:ext uri="{9D8B030D-6E8A-4147-A177-3AD203B41FA5}">
                      <a16:colId xmlns:a16="http://schemas.microsoft.com/office/drawing/2014/main" val="20002"/>
                    </a:ext>
                  </a:extLst>
                </a:gridCol>
                <a:gridCol w="2751652">
                  <a:extLst>
                    <a:ext uri="{9D8B030D-6E8A-4147-A177-3AD203B41FA5}">
                      <a16:colId xmlns:a16="http://schemas.microsoft.com/office/drawing/2014/main" val="20003"/>
                    </a:ext>
                  </a:extLst>
                </a:gridCol>
                <a:gridCol w="5919022">
                  <a:extLst>
                    <a:ext uri="{9D8B030D-6E8A-4147-A177-3AD203B41FA5}">
                      <a16:colId xmlns:a16="http://schemas.microsoft.com/office/drawing/2014/main" val="20004"/>
                    </a:ext>
                  </a:extLst>
                </a:gridCol>
              </a:tblGrid>
              <a:tr h="1190882">
                <a:tc>
                  <a:txBody>
                    <a:bodyPr/>
                    <a:lstStyle/>
                    <a:p>
                      <a:pPr algn="just">
                        <a:lnSpc>
                          <a:spcPct val="107000"/>
                        </a:lnSpc>
                        <a:spcAft>
                          <a:spcPts val="800"/>
                        </a:spcAft>
                      </a:pPr>
                      <a:r>
                        <a:rPr lang="en-IN" sz="1400" kern="0" dirty="0">
                          <a:effectLst/>
                          <a:latin typeface="Aptos" panose="020B0004020202020204" pitchFamily="34" charset="0"/>
                          <a:ea typeface="Calibri" panose="020F0502020204030204" pitchFamily="34" charset="0"/>
                          <a:cs typeface="Times New Roman" panose="02020603050405020304" pitchFamily="18" charset="0"/>
                        </a:rPr>
                        <a:t>8</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GB" sz="1400" b="0" dirty="0">
                          <a:latin typeface="Aptos" panose="020B0004020202020204" pitchFamily="34" charset="0"/>
                        </a:rPr>
                        <a:t>Multimedia Information Networking and Security</a:t>
                      </a:r>
                      <a:endParaRPr lang="en-IN" sz="1300" b="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algn="ctr">
                        <a:lnSpc>
                          <a:spcPct val="107000"/>
                        </a:lnSpc>
                        <a:spcAft>
                          <a:spcPts val="800"/>
                        </a:spcAft>
                      </a:pPr>
                      <a:r>
                        <a:rPr lang="en-IN" sz="1400" b="0" dirty="0">
                          <a:latin typeface="Aptos" panose="020B0004020202020204" pitchFamily="34" charset="0"/>
                        </a:rPr>
                        <a:t>2019</a:t>
                      </a:r>
                      <a:endParaRPr lang="en-IN" sz="1400" b="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r>
                        <a:rPr lang="en-GB" sz="1400" b="0" dirty="0">
                          <a:latin typeface="Aptos" panose="020B0004020202020204" pitchFamily="34" charset="0"/>
                        </a:rPr>
                        <a:t>A method of Parking space detection based on image segmentation and LBP</a:t>
                      </a:r>
                      <a:endParaRPr lang="en-IN" sz="1400" b="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marL="0" marR="24765"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tabLst/>
                        <a:defRPr/>
                      </a:pPr>
                      <a:r>
                        <a:rPr lang="en-GB" sz="1400" b="0" i="0" kern="1200" dirty="0">
                          <a:solidFill>
                            <a:schemeClr val="tx1"/>
                          </a:solidFill>
                          <a:effectLst/>
                          <a:latin typeface="Aptos" panose="020B0004020202020204" pitchFamily="34" charset="0"/>
                          <a:ea typeface="+mn-ea"/>
                          <a:cs typeface="+mn-cs"/>
                        </a:rPr>
                        <a:t>The paper proposes a novel algorithm for detecting parking spaces that is based on image segmentation and the Local Binary Pattern (LBP) technique.</a:t>
                      </a:r>
                      <a:r>
                        <a:rPr lang="en-GB" sz="1800" b="0" i="0" kern="1200" dirty="0">
                          <a:solidFill>
                            <a:schemeClr val="tx1"/>
                          </a:solidFill>
                          <a:effectLst/>
                          <a:latin typeface="+mn-lt"/>
                          <a:ea typeface="+mn-ea"/>
                          <a:cs typeface="+mn-cs"/>
                        </a:rPr>
                        <a:t> </a:t>
                      </a:r>
                      <a:r>
                        <a:rPr lang="en-GB" sz="1400" b="0" i="0" kern="1200" dirty="0">
                          <a:solidFill>
                            <a:schemeClr val="tx1"/>
                          </a:solidFill>
                          <a:effectLst/>
                          <a:latin typeface="Aptos" panose="020B0004020202020204" pitchFamily="34" charset="0"/>
                          <a:ea typeface="+mn-ea"/>
                          <a:cs typeface="+mn-cs"/>
                        </a:rPr>
                        <a:t>The system aims to provide drivers with real-time information about parking space occupancy to help reduce time spent searching for spots and improve parking lot efficiency. With high accuracy of 99.8%.</a:t>
                      </a:r>
                    </a:p>
                  </a:txBody>
                  <a:tcPr marL="56022" marR="56022" marT="56022" marB="56022"/>
                </a:tc>
                <a:extLst>
                  <a:ext uri="{0D108BD9-81ED-4DB2-BD59-A6C34878D82A}">
                    <a16:rowId xmlns:a16="http://schemas.microsoft.com/office/drawing/2014/main" val="10000"/>
                  </a:ext>
                </a:extLst>
              </a:tr>
              <a:tr h="1931462">
                <a:tc>
                  <a:txBody>
                    <a:bodyPr/>
                    <a:lstStyle/>
                    <a:p>
                      <a:pPr algn="just">
                        <a:lnSpc>
                          <a:spcPct val="107000"/>
                        </a:lnSpc>
                        <a:spcAft>
                          <a:spcPts val="800"/>
                        </a:spcAft>
                      </a:pPr>
                      <a:r>
                        <a:rPr lang="en-IN" sz="1400" kern="0" dirty="0">
                          <a:effectLst/>
                          <a:latin typeface="Aptos" panose="020B0004020202020204" pitchFamily="34" charset="0"/>
                          <a:ea typeface="Calibri" panose="020F0502020204030204" pitchFamily="34" charset="0"/>
                          <a:cs typeface="Times New Roman" panose="02020603050405020304" pitchFamily="18" charset="0"/>
                        </a:rPr>
                        <a:t>9</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solidFill>
                      <a:srgbClr val="7030A0">
                        <a:alpha val="20000"/>
                      </a:srgbClr>
                    </a:solidFill>
                  </a:tcPr>
                </a:tc>
                <a:tc>
                  <a:txBody>
                    <a:bodyPr/>
                    <a:lstStyle/>
                    <a:p>
                      <a:pPr algn="just">
                        <a:lnSpc>
                          <a:spcPct val="107000"/>
                        </a:lnSpc>
                        <a:spcAft>
                          <a:spcPts val="800"/>
                        </a:spcAft>
                      </a:pPr>
                      <a:r>
                        <a:rPr lang="en-GB" sz="1400" b="0" i="0" kern="1200" dirty="0">
                          <a:solidFill>
                            <a:schemeClr val="tx1"/>
                          </a:solidFill>
                          <a:effectLst/>
                          <a:latin typeface="Aptos" panose="020B0004020202020204" pitchFamily="34" charset="0"/>
                          <a:ea typeface="+mn-ea"/>
                          <a:cs typeface="+mn-cs"/>
                        </a:rPr>
                        <a:t>Smart Electronics and Communication (ICOSEC)</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solidFill>
                      <a:srgbClr val="7030A0">
                        <a:alpha val="20000"/>
                      </a:srgbClr>
                    </a:solidFill>
                  </a:tcPr>
                </a:tc>
                <a:tc>
                  <a:txBody>
                    <a:bodyPr/>
                    <a:lstStyle/>
                    <a:p>
                      <a:pPr algn="ctr">
                        <a:lnSpc>
                          <a:spcPct val="107000"/>
                        </a:lnSpc>
                        <a:spcAft>
                          <a:spcPts val="800"/>
                        </a:spcAft>
                      </a:pPr>
                      <a:r>
                        <a:rPr lang="en-IN" sz="1400" kern="100" dirty="0">
                          <a:effectLst/>
                          <a:latin typeface="Aptos" panose="020B0004020202020204" pitchFamily="34" charset="0"/>
                          <a:ea typeface="Calibri" panose="020F0502020204030204" pitchFamily="34" charset="0"/>
                          <a:cs typeface="Times New Roman" panose="02020603050405020304" pitchFamily="18" charset="0"/>
                        </a:rPr>
                        <a:t>2019</a:t>
                      </a:r>
                    </a:p>
                  </a:txBody>
                  <a:tcPr marL="56022" marR="56022" marT="56022" marB="56022">
                    <a:solidFill>
                      <a:srgbClr val="7030A0">
                        <a:alpha val="20000"/>
                      </a:srgbClr>
                    </a:solidFill>
                  </a:tcPr>
                </a:tc>
                <a:tc>
                  <a:txBody>
                    <a:bodyPr/>
                    <a:lstStyle/>
                    <a:p>
                      <a:r>
                        <a:rPr lang="en-GB" sz="1400" dirty="0">
                          <a:latin typeface="Aptos" panose="020B0004020202020204" pitchFamily="34" charset="0"/>
                        </a:rPr>
                        <a:t>Parking Lot Space Detection Based On Image Processing</a:t>
                      </a:r>
                      <a:endParaRPr lang="en-US" sz="1400" b="0" i="0" u="none" strike="noStrike" cap="none" dirty="0">
                        <a:solidFill>
                          <a:schemeClr val="tx1"/>
                        </a:solidFill>
                        <a:effectLst/>
                        <a:latin typeface="Aptos" panose="020B0004020202020204" pitchFamily="34" charset="0"/>
                        <a:ea typeface="+mn-ea"/>
                        <a:cs typeface="+mn-cs"/>
                        <a:sym typeface="Arial" panose="020B0604020202020204"/>
                      </a:endParaRPr>
                    </a:p>
                  </a:txBody>
                  <a:tcPr marL="56022" marR="56022" marT="56022" marB="56022">
                    <a:solidFill>
                      <a:srgbClr val="7030A0">
                        <a:alpha val="20000"/>
                      </a:srgbClr>
                    </a:solidFill>
                  </a:tcPr>
                </a:tc>
                <a:tc>
                  <a:txBody>
                    <a:bodyPr/>
                    <a:lstStyle/>
                    <a:p>
                      <a:pPr marL="0" marR="25400" lvl="0" indent="0" algn="just" defTabSz="914400" rtl="0" eaLnBrk="1" fontAlgn="t" latinLnBrk="0" hangingPunct="1">
                        <a:lnSpc>
                          <a:spcPct val="100000"/>
                        </a:lnSpc>
                        <a:spcBef>
                          <a:spcPts val="0"/>
                        </a:spcBef>
                        <a:spcAft>
                          <a:spcPts val="800"/>
                        </a:spcAft>
                        <a:buClrTx/>
                        <a:buSzTx/>
                        <a:buFontTx/>
                        <a:buNone/>
                        <a:tabLst/>
                        <a:defRPr/>
                      </a:pPr>
                      <a:r>
                        <a:rPr lang="en-GB" sz="1400" b="0" i="0" kern="1200" dirty="0">
                          <a:solidFill>
                            <a:schemeClr val="tx1"/>
                          </a:solidFill>
                          <a:effectLst/>
                          <a:latin typeface="Aptos" panose="020B0004020202020204" pitchFamily="34" charset="0"/>
                          <a:ea typeface="+mn-ea"/>
                          <a:cs typeface="+mn-cs"/>
                        </a:rPr>
                        <a:t>The paper proposes an implementation of predicting available parking lots using image processing techniques such as image subtraction, conversions, morphological operations, blob detection, finding image region properties, vehicle and parking lot detection.</a:t>
                      </a:r>
                      <a:r>
                        <a:rPr lang="en-GB" sz="1800" b="0" i="0" kern="1200" dirty="0">
                          <a:solidFill>
                            <a:schemeClr val="tx1"/>
                          </a:solidFill>
                          <a:effectLst/>
                          <a:latin typeface="+mn-lt"/>
                          <a:ea typeface="+mn-ea"/>
                          <a:cs typeface="+mn-cs"/>
                        </a:rPr>
                        <a:t> </a:t>
                      </a:r>
                      <a:r>
                        <a:rPr lang="en-GB" sz="1400" b="0" i="0" kern="1200" dirty="0">
                          <a:solidFill>
                            <a:schemeClr val="tx1"/>
                          </a:solidFill>
                          <a:effectLst/>
                          <a:latin typeface="Aptos" panose="020B0004020202020204" pitchFamily="34" charset="0"/>
                          <a:ea typeface="+mn-ea"/>
                          <a:cs typeface="+mn-cs"/>
                        </a:rPr>
                        <a:t>The system utilizes techniques like Dijkstra algorithm based on heap optimization and Floyd algorithm to realize parking space navigation, reducing the time for drivers to find vacant spots.</a:t>
                      </a:r>
                      <a:endParaRPr lang="en-IN" sz="1400" b="0" i="0" kern="1200" dirty="0">
                        <a:solidFill>
                          <a:schemeClr val="tx1"/>
                        </a:solidFill>
                        <a:effectLst/>
                        <a:latin typeface="Aptos" panose="020B0004020202020204" pitchFamily="34" charset="0"/>
                        <a:ea typeface="+mn-ea"/>
                        <a:cs typeface="+mn-cs"/>
                      </a:endParaRPr>
                    </a:p>
                  </a:txBody>
                  <a:tcPr marL="63500" marR="63500" marT="63500" marB="63500">
                    <a:solidFill>
                      <a:srgbClr val="7030A0">
                        <a:alpha val="20000"/>
                      </a:srgbClr>
                    </a:solidFill>
                  </a:tcPr>
                </a:tc>
                <a:extLst>
                  <a:ext uri="{0D108BD9-81ED-4DB2-BD59-A6C34878D82A}">
                    <a16:rowId xmlns:a16="http://schemas.microsoft.com/office/drawing/2014/main" val="10001"/>
                  </a:ext>
                </a:extLst>
              </a:tr>
              <a:tr h="896388">
                <a:tc>
                  <a:txBody>
                    <a:bodyPr/>
                    <a:lstStyle/>
                    <a:p>
                      <a:pPr algn="just">
                        <a:lnSpc>
                          <a:spcPct val="107000"/>
                        </a:lnSpc>
                        <a:spcAft>
                          <a:spcPts val="800"/>
                        </a:spcAft>
                      </a:pPr>
                      <a:r>
                        <a:rPr lang="en-IN" sz="1400" kern="0" dirty="0">
                          <a:effectLst/>
                          <a:latin typeface="Aptos" panose="020B0004020202020204" pitchFamily="34" charset="0"/>
                          <a:ea typeface="Calibri" panose="020F0502020204030204" pitchFamily="34" charset="0"/>
                          <a:cs typeface="Times New Roman" panose="02020603050405020304" pitchFamily="18" charset="0"/>
                        </a:rPr>
                        <a:t>10</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marL="0" marR="0"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IN" sz="1400" b="0" i="0" kern="1200" dirty="0">
                          <a:solidFill>
                            <a:schemeClr val="tx1"/>
                          </a:solidFill>
                          <a:effectLst/>
                          <a:latin typeface="+mn-lt"/>
                          <a:ea typeface="+mn-ea"/>
                          <a:cs typeface="+mn-cs"/>
                        </a:rPr>
                        <a:t>IEEE Sensors Applications Symposium</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tc>
                  <a:txBody>
                    <a:bodyPr/>
                    <a:lstStyle/>
                    <a:p>
                      <a:pPr algn="ctr">
                        <a:lnSpc>
                          <a:spcPct val="107000"/>
                        </a:lnSpc>
                        <a:spcAft>
                          <a:spcPts val="800"/>
                        </a:spcAft>
                      </a:pPr>
                      <a:r>
                        <a:rPr lang="en-IN" sz="1400" kern="100" dirty="0">
                          <a:effectLst/>
                          <a:latin typeface="Aptos" panose="020B0004020202020204" pitchFamily="34" charset="0"/>
                          <a:ea typeface="Calibri" panose="020F0502020204030204" pitchFamily="34" charset="0"/>
                          <a:cs typeface="Times New Roman" panose="02020603050405020304" pitchFamily="18" charset="0"/>
                        </a:rPr>
                        <a:t>2019</a:t>
                      </a:r>
                    </a:p>
                  </a:txBody>
                  <a:tcPr marL="56022" marR="56022" marT="56022" marB="56022"/>
                </a:tc>
                <a:tc>
                  <a:txBody>
                    <a:bodyPr/>
                    <a:lstStyle/>
                    <a:p>
                      <a:pPr marL="0" marR="28575"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400" dirty="0">
                          <a:latin typeface="Aptos" panose="020B0004020202020204" pitchFamily="34" charset="0"/>
                        </a:rPr>
                        <a:t>Smart Parking System for Monitoring Cars and Wrong Parking</a:t>
                      </a:r>
                      <a:endParaRPr lang="en-US" sz="1400" b="0" i="0" u="none" strike="noStrike" cap="none" dirty="0">
                        <a:solidFill>
                          <a:schemeClr val="tx1"/>
                        </a:solidFill>
                        <a:effectLst/>
                        <a:latin typeface="Aptos" panose="020B0004020202020204" pitchFamily="34" charset="0"/>
                        <a:ea typeface="+mn-ea"/>
                        <a:cs typeface="+mn-cs"/>
                        <a:sym typeface="Arial" panose="020B0604020202020204"/>
                      </a:endParaRPr>
                    </a:p>
                  </a:txBody>
                  <a:tcPr marL="56022" marR="56022" marT="56022" marB="56022"/>
                </a:tc>
                <a:tc>
                  <a:txBody>
                    <a:bodyPr/>
                    <a:lstStyle/>
                    <a:p>
                      <a:pPr marL="0" marR="24765" lvl="0" indent="0" algn="just" defTabSz="914400" rtl="0" eaLnBrk="1" fontAlgn="auto" latinLnBrk="0" hangingPunct="1">
                        <a:lnSpc>
                          <a:spcPct val="107000"/>
                        </a:lnSpc>
                        <a:spcBef>
                          <a:spcPts val="0"/>
                        </a:spcBef>
                        <a:spcAft>
                          <a:spcPts val="800"/>
                        </a:spcAft>
                        <a:buClr>
                          <a:srgbClr val="000000"/>
                        </a:buClr>
                        <a:buSzTx/>
                        <a:buFont typeface="Arial" panose="020B0604020202020204"/>
                        <a:buNone/>
                        <a:defRPr/>
                      </a:pPr>
                      <a:r>
                        <a:rPr lang="en-GB" sz="1400" b="0" i="0" kern="1200" dirty="0">
                          <a:solidFill>
                            <a:schemeClr val="tx1"/>
                          </a:solidFill>
                          <a:effectLst/>
                          <a:latin typeface="+mn-lt"/>
                          <a:ea typeface="+mn-ea"/>
                          <a:cs typeface="+mn-cs"/>
                        </a:rPr>
                        <a:t>The developed parking system is able to calculate and detect the presence of cars in the parking area. The data obtained is sent to a cloud database and used by an Android application to inform users of available parking spaces.</a:t>
                      </a:r>
                      <a:r>
                        <a:rPr lang="en-GB" sz="1800" b="0" i="0" kern="1200" dirty="0">
                          <a:solidFill>
                            <a:schemeClr val="tx1"/>
                          </a:solidFill>
                          <a:effectLst/>
                          <a:latin typeface="+mn-lt"/>
                          <a:ea typeface="+mn-ea"/>
                          <a:cs typeface="+mn-cs"/>
                        </a:rPr>
                        <a:t> </a:t>
                      </a:r>
                      <a:r>
                        <a:rPr lang="en-GB" sz="1400" b="0" i="0" kern="1200" dirty="0">
                          <a:solidFill>
                            <a:schemeClr val="tx1"/>
                          </a:solidFill>
                          <a:effectLst/>
                          <a:latin typeface="+mn-lt"/>
                          <a:ea typeface="+mn-ea"/>
                          <a:cs typeface="+mn-cs"/>
                        </a:rPr>
                        <a:t>The system consists of sensor circuits placed on the ceiling of each parking slot to detect the presence of a car. The sensor data is transmitted to a server which stores it in the cloud. With highest 100% accuracy.</a:t>
                      </a:r>
                      <a:endParaRPr lang="en-IN" sz="1400" kern="100" dirty="0">
                        <a:effectLst/>
                        <a:latin typeface="Aptos" panose="020B0004020202020204" pitchFamily="34" charset="0"/>
                        <a:ea typeface="Calibri" panose="020F0502020204030204" pitchFamily="34" charset="0"/>
                        <a:cs typeface="Times New Roman" panose="02020603050405020304" pitchFamily="18" charset="0"/>
                      </a:endParaRPr>
                    </a:p>
                  </a:txBody>
                  <a:tcPr marL="56022" marR="56022" marT="56022" marB="56022"/>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23536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290918" y="1247868"/>
            <a:ext cx="9377082" cy="258202"/>
          </a:xfrm>
        </p:spPr>
        <p:txBody>
          <a:bodyPr>
            <a:normAutofit fontScale="90000"/>
          </a:bodyPr>
          <a:lstStyle/>
          <a:p>
            <a:r>
              <a:rPr lang="en-GB" b="1" dirty="0">
                <a:latin typeface="Montserrat" panose="00000500000000000000"/>
                <a:ea typeface="Montserrat" panose="00000500000000000000"/>
                <a:cs typeface="Montserrat" panose="00000500000000000000"/>
                <a:sym typeface="Montserrat" panose="00000500000000000000"/>
              </a:rPr>
              <a:t>Our Idea</a:t>
            </a:r>
            <a:endParaRPr lang="en-IN" dirty="0"/>
          </a:p>
        </p:txBody>
      </p:sp>
      <p:sp>
        <p:nvSpPr>
          <p:cNvPr id="3" name="TextBox 2">
            <a:extLst>
              <a:ext uri="{FF2B5EF4-FFF2-40B4-BE49-F238E27FC236}">
                <a16:creationId xmlns:a16="http://schemas.microsoft.com/office/drawing/2014/main" id="{2649213E-D13E-CFE4-E183-B4475116D714}"/>
              </a:ext>
            </a:extLst>
          </p:cNvPr>
          <p:cNvSpPr txBox="1"/>
          <p:nvPr/>
        </p:nvSpPr>
        <p:spPr>
          <a:xfrm>
            <a:off x="675409" y="1922318"/>
            <a:ext cx="10463646" cy="3693319"/>
          </a:xfrm>
          <a:prstGeom prst="rect">
            <a:avLst/>
          </a:prstGeom>
          <a:noFill/>
        </p:spPr>
        <p:txBody>
          <a:bodyPr wrap="square" rtlCol="0">
            <a:spAutoFit/>
          </a:bodyPr>
          <a:lstStyle/>
          <a:p>
            <a:pPr algn="just"/>
            <a:r>
              <a:rPr lang="en-US" dirty="0"/>
              <a:t>In this project  various technologies are used to make parking detection . All the previous papers only used same technology and made a simple model . i.e. To find the free space and give output to the user.</a:t>
            </a:r>
          </a:p>
          <a:p>
            <a:pPr algn="just"/>
            <a:r>
              <a:rPr lang="en-US" dirty="0"/>
              <a:t>So, we can add some additional features that can make the user experience better such as,</a:t>
            </a:r>
          </a:p>
          <a:p>
            <a:pPr algn="just"/>
            <a:endParaRPr lang="en-US" dirty="0"/>
          </a:p>
          <a:p>
            <a:pPr algn="just"/>
            <a:r>
              <a:rPr lang="en-US" b="1" dirty="0"/>
              <a:t>Filters:</a:t>
            </a:r>
            <a:r>
              <a:rPr lang="en-US" dirty="0"/>
              <a:t> We can add filters option in </a:t>
            </a:r>
            <a:r>
              <a:rPr lang="en-US"/>
              <a:t>our model </a:t>
            </a:r>
            <a:r>
              <a:rPr lang="en-US" dirty="0"/>
              <a:t>to categorize the locations and find spaces according to the user needs . Ex Ev charging station , Covered parking , paid or free , etc.</a:t>
            </a:r>
          </a:p>
          <a:p>
            <a:pPr algn="just"/>
            <a:endParaRPr lang="en-US" dirty="0"/>
          </a:p>
          <a:p>
            <a:pPr algn="just"/>
            <a:r>
              <a:rPr lang="en-US" b="1" dirty="0"/>
              <a:t>Security Feature:</a:t>
            </a:r>
            <a:r>
              <a:rPr lang="en-US" dirty="0"/>
              <a:t> We can add a security check button to ensure the safety of vehicle . Such as the parking has a camera feature or not , does parking spot has a Guard for safety. We can add security rating level of the parking areas to enhance the user experience.</a:t>
            </a:r>
          </a:p>
          <a:p>
            <a:pPr algn="just"/>
            <a:endParaRPr lang="en-US" dirty="0"/>
          </a:p>
          <a:p>
            <a:pPr algn="just"/>
            <a:r>
              <a:rPr lang="en-US" b="1" dirty="0"/>
              <a:t>Smart notification and alert:</a:t>
            </a:r>
            <a:r>
              <a:rPr lang="en-US" dirty="0"/>
              <a:t> Users doesn’t have search separately for parking. We can notify user when the parking spot is available in their preferred area.</a:t>
            </a:r>
          </a:p>
        </p:txBody>
      </p:sp>
    </p:spTree>
    <p:extLst>
      <p:ext uri="{BB962C8B-B14F-4D97-AF65-F5344CB8AC3E}">
        <p14:creationId xmlns:p14="http://schemas.microsoft.com/office/powerpoint/2010/main" val="2541298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649506" y="1122363"/>
            <a:ext cx="9018494" cy="477837"/>
          </a:xfrm>
        </p:spPr>
        <p:txBody>
          <a:bodyPr>
            <a:normAutofit fontScale="90000"/>
          </a:bodyPr>
          <a:lstStyle/>
          <a:p>
            <a:r>
              <a:rPr lang="en-GB" b="1" dirty="0">
                <a:latin typeface="Montserrat"/>
                <a:ea typeface="Montserrat"/>
                <a:cs typeface="Montserrat"/>
                <a:sym typeface="Montserrat"/>
              </a:rPr>
              <a:t>Methodology</a:t>
            </a:r>
            <a:endParaRPr lang="en-IN" dirty="0"/>
          </a:p>
        </p:txBody>
      </p:sp>
      <p:sp>
        <p:nvSpPr>
          <p:cNvPr id="4" name="Rectangle 1">
            <a:extLst>
              <a:ext uri="{FF2B5EF4-FFF2-40B4-BE49-F238E27FC236}">
                <a16:creationId xmlns:a16="http://schemas.microsoft.com/office/drawing/2014/main" id="{173CA128-0AF4-842F-4BBF-5A1A9663E1C7}"/>
              </a:ext>
            </a:extLst>
          </p:cNvPr>
          <p:cNvSpPr>
            <a:spLocks noChangeArrowheads="1"/>
          </p:cNvSpPr>
          <p:nvPr/>
        </p:nvSpPr>
        <p:spPr bwMode="auto">
          <a:xfrm>
            <a:off x="0" y="-138499"/>
            <a:ext cx="65" cy="276999"/>
          </a:xfrm>
          <a:prstGeom prst="rect">
            <a:avLst/>
          </a:prstGeom>
          <a:solidFill>
            <a:srgbClr val="FCFC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F23AF7C-9AA3-AAFE-4483-CF819061C86E}"/>
              </a:ext>
            </a:extLst>
          </p:cNvPr>
          <p:cNvSpPr>
            <a:spLocks noChangeArrowheads="1"/>
          </p:cNvSpPr>
          <p:nvPr/>
        </p:nvSpPr>
        <p:spPr bwMode="auto">
          <a:xfrm>
            <a:off x="0" y="-138499"/>
            <a:ext cx="65" cy="276999"/>
          </a:xfrm>
          <a:prstGeom prst="rect">
            <a:avLst/>
          </a:prstGeom>
          <a:solidFill>
            <a:srgbClr val="FCFC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E0B72DDE-9584-AF58-DF0F-7864A53E6264}"/>
              </a:ext>
            </a:extLst>
          </p:cNvPr>
          <p:cNvSpPr>
            <a:spLocks noChangeArrowheads="1"/>
          </p:cNvSpPr>
          <p:nvPr/>
        </p:nvSpPr>
        <p:spPr bwMode="auto">
          <a:xfrm>
            <a:off x="-1" y="-40705"/>
            <a:ext cx="1231975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i-IN" altLang="en-US" sz="11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Mangal" panose="02040503050203030202" pitchFamily="18" charset="0"/>
              </a:rPr>
              <a:t>.</a:t>
            </a:r>
            <a:endParaRPr kumimoji="0" lang="hi-IN"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8651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519084" y="974879"/>
            <a:ext cx="9144000" cy="670578"/>
          </a:xfrm>
        </p:spPr>
        <p:txBody>
          <a:bodyPr>
            <a:normAutofit fontScale="90000"/>
          </a:bodyPr>
          <a:lstStyle/>
          <a:p>
            <a:r>
              <a:rPr lang="en-GB" b="1" dirty="0">
                <a:latin typeface="Montserrat" panose="00000500000000000000"/>
                <a:ea typeface="Montserrat" panose="00000500000000000000"/>
                <a:cs typeface="Montserrat" panose="00000500000000000000"/>
                <a:sym typeface="Montserrat" panose="00000500000000000000"/>
              </a:rPr>
              <a:t>References</a:t>
            </a:r>
            <a:endParaRPr lang="en-IN" dirty="0"/>
          </a:p>
        </p:txBody>
      </p:sp>
      <p:sp>
        <p:nvSpPr>
          <p:cNvPr id="3" name="Rectangle 2">
            <a:extLst>
              <a:ext uri="{FF2B5EF4-FFF2-40B4-BE49-F238E27FC236}">
                <a16:creationId xmlns:a16="http://schemas.microsoft.com/office/drawing/2014/main" id="{107DD8D8-B1CF-296B-758A-52C7706E970F}"/>
              </a:ext>
            </a:extLst>
          </p:cNvPr>
          <p:cNvSpPr/>
          <p:nvPr/>
        </p:nvSpPr>
        <p:spPr>
          <a:xfrm>
            <a:off x="137652" y="1573161"/>
            <a:ext cx="11906864" cy="48669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dirty="0"/>
              <a:t>1. </a:t>
            </a:r>
            <a:r>
              <a:rPr lang="en-GB" b="1" dirty="0"/>
              <a:t>A Convenient Vision-Based System for Automatic Detection of Parking Spaces in Indoor Parking Lots Using Wide-Angle Cameras</a:t>
            </a:r>
            <a:r>
              <a:rPr lang="en-GB" dirty="0"/>
              <a:t>(Shen-En Shih and Wen-Hsiang Tsai) </a:t>
            </a:r>
            <a:r>
              <a:rPr lang="en-GB" b="1" dirty="0"/>
              <a:t>DOI</a:t>
            </a:r>
            <a:r>
              <a:rPr lang="en-GB" dirty="0"/>
              <a:t>:</a:t>
            </a:r>
            <a:r>
              <a:rPr lang="en-IN" b="0" i="0" u="none" strike="noStrike" dirty="0">
                <a:solidFill>
                  <a:srgbClr val="006699"/>
                </a:solidFill>
                <a:effectLst/>
                <a:highlight>
                  <a:srgbClr val="FFFFFF"/>
                </a:highlight>
                <a:latin typeface="HelveticaNeue Regular"/>
                <a:hlinkClick r:id="rId2"/>
              </a:rPr>
              <a:t> 10.1109/TVT.2013.2297331</a:t>
            </a:r>
            <a:r>
              <a:rPr lang="en-IN" b="0" i="0" u="none" strike="noStrike" dirty="0">
                <a:solidFill>
                  <a:srgbClr val="006699"/>
                </a:solidFill>
                <a:effectLst/>
                <a:highlight>
                  <a:srgbClr val="FFFFFF"/>
                </a:highlight>
                <a:latin typeface="HelveticaNeue Regular"/>
              </a:rPr>
              <a:t>.</a:t>
            </a:r>
          </a:p>
          <a:p>
            <a:r>
              <a:rPr lang="en-GB" dirty="0"/>
              <a:t>2. </a:t>
            </a:r>
            <a:r>
              <a:rPr lang="en-GB" b="1" dirty="0"/>
              <a:t>A Multi-Classifier Image Based Vacant Parking Detection System</a:t>
            </a:r>
            <a:r>
              <a:rPr lang="en-IN" dirty="0">
                <a:solidFill>
                  <a:srgbClr val="006699"/>
                </a:solidFill>
                <a:highlight>
                  <a:srgbClr val="FFFFFF"/>
                </a:highlight>
                <a:latin typeface="HelveticaNeue Regular"/>
              </a:rPr>
              <a:t>(</a:t>
            </a:r>
            <a:r>
              <a:rPr lang="en-IN" dirty="0" err="1"/>
              <a:t>Junzhao</a:t>
            </a:r>
            <a:r>
              <a:rPr lang="en-IN" dirty="0"/>
              <a:t> Liu, Mohamed </a:t>
            </a:r>
            <a:r>
              <a:rPr lang="en-IN" dirty="0" err="1"/>
              <a:t>Mohandes</a:t>
            </a:r>
            <a:r>
              <a:rPr lang="en-IN" dirty="0"/>
              <a:t>, Mohamed </a:t>
            </a:r>
            <a:r>
              <a:rPr lang="en-IN" dirty="0" err="1"/>
              <a:t>Deriche</a:t>
            </a:r>
            <a:r>
              <a:rPr lang="en-IN" dirty="0">
                <a:solidFill>
                  <a:srgbClr val="006699"/>
                </a:solidFill>
                <a:highlight>
                  <a:srgbClr val="FFFFFF"/>
                </a:highlight>
                <a:latin typeface="HelveticaNeue Regular"/>
              </a:rPr>
              <a:t>)</a:t>
            </a:r>
          </a:p>
          <a:p>
            <a:r>
              <a:rPr lang="en-IN" b="1" i="0" dirty="0">
                <a:solidFill>
                  <a:srgbClr val="333333"/>
                </a:solidFill>
                <a:effectLst/>
                <a:highlight>
                  <a:srgbClr val="FFFFFF"/>
                </a:highlight>
                <a:latin typeface="HelveticaNeue Regular"/>
              </a:rPr>
              <a:t>DOI: </a:t>
            </a:r>
            <a:r>
              <a:rPr lang="en-IN" b="0" i="0" u="none" strike="noStrike" dirty="0">
                <a:solidFill>
                  <a:srgbClr val="006699"/>
                </a:solidFill>
                <a:effectLst/>
                <a:highlight>
                  <a:srgbClr val="FFFFFF"/>
                </a:highlight>
                <a:latin typeface="HelveticaNeue Regular"/>
                <a:hlinkClick r:id="rId3"/>
              </a:rPr>
              <a:t>10.1109/ICECS.2013.6815565</a:t>
            </a:r>
            <a:r>
              <a:rPr lang="en-IN" b="0" i="0" u="none" strike="noStrike" dirty="0">
                <a:solidFill>
                  <a:srgbClr val="006699"/>
                </a:solidFill>
                <a:effectLst/>
                <a:highlight>
                  <a:srgbClr val="FFFFFF"/>
                </a:highlight>
                <a:latin typeface="HelveticaNeue Regular"/>
              </a:rPr>
              <a:t>.</a:t>
            </a:r>
          </a:p>
          <a:p>
            <a:r>
              <a:rPr lang="en-IN" dirty="0">
                <a:solidFill>
                  <a:srgbClr val="006699"/>
                </a:solidFill>
                <a:highlight>
                  <a:srgbClr val="FFFFFF"/>
                </a:highlight>
                <a:latin typeface="HelveticaNeue Regular"/>
              </a:rPr>
              <a:t>3.</a:t>
            </a:r>
            <a:r>
              <a:rPr lang="en-GB" dirty="0"/>
              <a:t> </a:t>
            </a:r>
            <a:r>
              <a:rPr lang="en-GB" b="1" dirty="0"/>
              <a:t>A Review on Automatic Parking Space Occupancy Detection</a:t>
            </a:r>
            <a:r>
              <a:rPr lang="en-IN" b="1" dirty="0">
                <a:solidFill>
                  <a:srgbClr val="333333"/>
                </a:solidFill>
                <a:highlight>
                  <a:srgbClr val="FFFFFF"/>
                </a:highlight>
                <a:latin typeface="HelveticaNeue Regular"/>
              </a:rPr>
              <a:t>(</a:t>
            </a:r>
            <a:r>
              <a:rPr lang="en-IN" dirty="0"/>
              <a:t>Twinkle Singh, Safdar Sardar Khan, Surendra </a:t>
            </a:r>
            <a:r>
              <a:rPr lang="en-IN" dirty="0" err="1"/>
              <a:t>Chadokar</a:t>
            </a:r>
            <a:r>
              <a:rPr lang="en-IN" b="1" dirty="0">
                <a:solidFill>
                  <a:srgbClr val="333333"/>
                </a:solidFill>
                <a:highlight>
                  <a:srgbClr val="FFFFFF"/>
                </a:highlight>
                <a:latin typeface="HelveticaNeue Regular"/>
              </a:rPr>
              <a:t>)</a:t>
            </a:r>
          </a:p>
          <a:p>
            <a:r>
              <a:rPr lang="en-IN" b="1" i="0" dirty="0">
                <a:solidFill>
                  <a:srgbClr val="333333"/>
                </a:solidFill>
                <a:effectLst/>
                <a:highlight>
                  <a:srgbClr val="FFFFFF"/>
                </a:highlight>
                <a:latin typeface="Aptos" panose="020B0004020202020204" pitchFamily="34" charset="0"/>
              </a:rPr>
              <a:t>DOI</a:t>
            </a:r>
            <a:r>
              <a:rPr lang="en-IN" i="0" dirty="0">
                <a:solidFill>
                  <a:srgbClr val="333333"/>
                </a:solidFill>
                <a:effectLst/>
                <a:highlight>
                  <a:srgbClr val="FFFFFF"/>
                </a:highlight>
                <a:latin typeface="Aptos" panose="020B0004020202020204" pitchFamily="34" charset="0"/>
              </a:rPr>
              <a:t>: </a:t>
            </a:r>
            <a:r>
              <a:rPr lang="en-IN" i="0" u="none" strike="noStrike" dirty="0">
                <a:solidFill>
                  <a:srgbClr val="006699"/>
                </a:solidFill>
                <a:effectLst/>
                <a:highlight>
                  <a:srgbClr val="FFFFFF"/>
                </a:highlight>
                <a:latin typeface="Aptos" panose="020B0004020202020204" pitchFamily="34" charset="0"/>
                <a:hlinkClick r:id="rId4"/>
              </a:rPr>
              <a:t>10.1109/ICACAT.2018.8933644</a:t>
            </a:r>
            <a:r>
              <a:rPr lang="en-IN" i="0" u="none" strike="noStrike" dirty="0">
                <a:solidFill>
                  <a:srgbClr val="006699"/>
                </a:solidFill>
                <a:effectLst/>
                <a:highlight>
                  <a:srgbClr val="FFFFFF"/>
                </a:highlight>
                <a:latin typeface="Aptos" panose="020B0004020202020204" pitchFamily="34" charset="0"/>
              </a:rPr>
              <a:t>.</a:t>
            </a:r>
          </a:p>
          <a:p>
            <a:r>
              <a:rPr lang="en-GB" i="0" dirty="0">
                <a:solidFill>
                  <a:srgbClr val="333333"/>
                </a:solidFill>
                <a:effectLst/>
                <a:highlight>
                  <a:srgbClr val="FFFFFF"/>
                </a:highlight>
                <a:latin typeface="Aptos" panose="020B0004020202020204" pitchFamily="34" charset="0"/>
              </a:rPr>
              <a:t>4. Smart parking in the smart city application</a:t>
            </a:r>
            <a:r>
              <a:rPr lang="en-GB" b="1" i="0" dirty="0">
                <a:solidFill>
                  <a:srgbClr val="333333"/>
                </a:solidFill>
                <a:effectLst/>
                <a:highlight>
                  <a:srgbClr val="FFFFFF"/>
                </a:highlight>
                <a:latin typeface="HelveticaNeue Regular"/>
              </a:rPr>
              <a:t>(</a:t>
            </a:r>
            <a:r>
              <a:rPr lang="en-IN" dirty="0"/>
              <a:t>Jan </a:t>
            </a:r>
            <a:r>
              <a:rPr lang="en-IN" dirty="0" err="1"/>
              <a:t>Šilar</a:t>
            </a:r>
            <a:r>
              <a:rPr lang="en-IN" dirty="0"/>
              <a:t>, </a:t>
            </a:r>
            <a:r>
              <a:rPr lang="en-IN" dirty="0" err="1"/>
              <a:t>Jiří</a:t>
            </a:r>
            <a:r>
              <a:rPr lang="en-IN" dirty="0"/>
              <a:t> </a:t>
            </a:r>
            <a:r>
              <a:rPr lang="en-IN" dirty="0" err="1"/>
              <a:t>Růžička</a:t>
            </a:r>
            <a:r>
              <a:rPr lang="en-IN" dirty="0"/>
              <a:t>, Zuzana </a:t>
            </a:r>
            <a:r>
              <a:rPr lang="en-IN" dirty="0" err="1"/>
              <a:t>Bělinová</a:t>
            </a:r>
            <a:r>
              <a:rPr lang="en-IN" dirty="0"/>
              <a:t>, Martin </a:t>
            </a:r>
            <a:r>
              <a:rPr lang="en-IN" dirty="0" err="1"/>
              <a:t>Langr</a:t>
            </a:r>
            <a:r>
              <a:rPr lang="en-IN" dirty="0"/>
              <a:t>, </a:t>
            </a:r>
            <a:r>
              <a:rPr lang="en-IN" dirty="0" err="1"/>
              <a:t>Kristýna</a:t>
            </a:r>
            <a:r>
              <a:rPr lang="en-IN" dirty="0"/>
              <a:t> </a:t>
            </a:r>
            <a:r>
              <a:rPr lang="en-IN" dirty="0" err="1"/>
              <a:t>Hlubučková</a:t>
            </a:r>
            <a:r>
              <a:rPr lang="en-IN" dirty="0"/>
              <a:t> </a:t>
            </a:r>
            <a:r>
              <a:rPr lang="en-GB" b="1" i="0" dirty="0">
                <a:solidFill>
                  <a:srgbClr val="333333"/>
                </a:solidFill>
                <a:effectLst/>
                <a:highlight>
                  <a:srgbClr val="FFFFFF"/>
                </a:highlight>
                <a:latin typeface="HelveticaNeue Regular"/>
              </a:rPr>
              <a:t>)</a:t>
            </a:r>
            <a:r>
              <a:rPr lang="en-IN" b="1" i="0" dirty="0">
                <a:solidFill>
                  <a:srgbClr val="333333"/>
                </a:solidFill>
                <a:effectLst/>
                <a:highlight>
                  <a:srgbClr val="FFFFFF"/>
                </a:highlight>
                <a:latin typeface="HelveticaNeue Regular"/>
              </a:rPr>
              <a:t> DOI: </a:t>
            </a:r>
            <a:r>
              <a:rPr lang="en-IN" b="0" i="0" u="none" strike="noStrike" dirty="0">
                <a:solidFill>
                  <a:srgbClr val="006699"/>
                </a:solidFill>
                <a:effectLst/>
                <a:highlight>
                  <a:srgbClr val="FFFFFF"/>
                </a:highlight>
                <a:latin typeface="HelveticaNeue Regular"/>
                <a:hlinkClick r:id="rId5"/>
              </a:rPr>
              <a:t>10.1109/SCSP.2018.8402667</a:t>
            </a:r>
            <a:r>
              <a:rPr lang="en-IN" b="0" i="0" u="none" strike="noStrike" dirty="0">
                <a:solidFill>
                  <a:srgbClr val="006699"/>
                </a:solidFill>
                <a:effectLst/>
                <a:highlight>
                  <a:srgbClr val="FFFFFF"/>
                </a:highlight>
                <a:latin typeface="HelveticaNeue Regular"/>
              </a:rPr>
              <a:t>.</a:t>
            </a:r>
          </a:p>
          <a:p>
            <a:r>
              <a:rPr lang="en-GB" b="1" i="0" dirty="0">
                <a:solidFill>
                  <a:srgbClr val="333333"/>
                </a:solidFill>
                <a:effectLst/>
                <a:highlight>
                  <a:srgbClr val="FFFFFF"/>
                </a:highlight>
                <a:latin typeface="HelveticaNeue Regular"/>
              </a:rPr>
              <a:t>5.</a:t>
            </a:r>
            <a:r>
              <a:rPr lang="en-GB" sz="1600" b="1" i="0" dirty="0">
                <a:solidFill>
                  <a:srgbClr val="333333"/>
                </a:solidFill>
                <a:effectLst/>
                <a:highlight>
                  <a:srgbClr val="FFFFFF"/>
                </a:highlight>
                <a:latin typeface="HelveticaNeue Regular"/>
              </a:rPr>
              <a:t>Study on parking spaces </a:t>
            </a:r>
            <a:r>
              <a:rPr lang="en-GB" sz="1600" b="1" i="0" dirty="0" err="1">
                <a:solidFill>
                  <a:srgbClr val="333333"/>
                </a:solidFill>
                <a:effectLst/>
                <a:highlight>
                  <a:srgbClr val="FFFFFF"/>
                </a:highlight>
                <a:latin typeface="HelveticaNeue Regular"/>
              </a:rPr>
              <a:t>analyzing</a:t>
            </a:r>
            <a:r>
              <a:rPr lang="en-GB" sz="1600" b="1" i="0" dirty="0">
                <a:solidFill>
                  <a:srgbClr val="333333"/>
                </a:solidFill>
                <a:effectLst/>
                <a:highlight>
                  <a:srgbClr val="FFFFFF"/>
                </a:highlight>
                <a:latin typeface="HelveticaNeue Regular"/>
              </a:rPr>
              <a:t> and guiding system based on video(</a:t>
            </a:r>
            <a:r>
              <a:rPr lang="en-IN" sz="1600" dirty="0"/>
              <a:t>Chengzhi Shi, </a:t>
            </a:r>
            <a:r>
              <a:rPr lang="en-IN" sz="1600" dirty="0" err="1"/>
              <a:t>Jihong</a:t>
            </a:r>
            <a:r>
              <a:rPr lang="en-IN" sz="1600" dirty="0"/>
              <a:t> Liu, </a:t>
            </a:r>
            <a:r>
              <a:rPr lang="en-IN" sz="1600" dirty="0" err="1"/>
              <a:t>Chenchen</a:t>
            </a:r>
            <a:r>
              <a:rPr lang="en-IN" sz="1600" dirty="0"/>
              <a:t> Miao</a:t>
            </a:r>
            <a:r>
              <a:rPr lang="en-GB" sz="1600" b="1" i="0" dirty="0">
                <a:solidFill>
                  <a:srgbClr val="333333"/>
                </a:solidFill>
                <a:effectLst/>
                <a:highlight>
                  <a:srgbClr val="FFFFFF"/>
                </a:highlight>
                <a:latin typeface="HelveticaNeue Regular"/>
              </a:rPr>
              <a:t>)</a:t>
            </a:r>
          </a:p>
          <a:p>
            <a:r>
              <a:rPr lang="en-IN" b="1" i="0" dirty="0">
                <a:solidFill>
                  <a:srgbClr val="333333"/>
                </a:solidFill>
                <a:effectLst/>
                <a:highlight>
                  <a:srgbClr val="FFFFFF"/>
                </a:highlight>
                <a:latin typeface="HelveticaNeue Regular"/>
              </a:rPr>
              <a:t>DOI: </a:t>
            </a:r>
            <a:r>
              <a:rPr lang="en-IN" b="0" i="0" u="none" strike="noStrike" dirty="0">
                <a:solidFill>
                  <a:srgbClr val="006699"/>
                </a:solidFill>
                <a:effectLst/>
                <a:highlight>
                  <a:srgbClr val="FFFFFF"/>
                </a:highlight>
                <a:latin typeface="HelveticaNeue Regular"/>
                <a:hlinkClick r:id="rId6"/>
              </a:rPr>
              <a:t>10.23919/IConAC.2017.8082071</a:t>
            </a:r>
            <a:endParaRPr lang="en-GB" b="1" i="0" dirty="0">
              <a:solidFill>
                <a:srgbClr val="333333"/>
              </a:solidFill>
              <a:effectLst/>
              <a:highlight>
                <a:srgbClr val="FFFFFF"/>
              </a:highlight>
              <a:latin typeface="HelveticaNeue Regular"/>
            </a:endParaRPr>
          </a:p>
          <a:p>
            <a:r>
              <a:rPr lang="en-IN" dirty="0">
                <a:solidFill>
                  <a:schemeClr val="tx1"/>
                </a:solidFill>
                <a:highlight>
                  <a:srgbClr val="FFFFFF"/>
                </a:highlight>
                <a:latin typeface="HelveticaNeue Regular"/>
              </a:rPr>
              <a:t>6.</a:t>
            </a:r>
            <a:r>
              <a:rPr lang="en-GB" b="1" i="0" dirty="0">
                <a:solidFill>
                  <a:srgbClr val="333333"/>
                </a:solidFill>
                <a:effectLst/>
                <a:highlight>
                  <a:srgbClr val="FFFFFF"/>
                </a:highlight>
                <a:latin typeface="HelveticaNeue Regular"/>
              </a:rPr>
              <a:t> Mobile outdoor parking space detection application(</a:t>
            </a:r>
            <a:r>
              <a:rPr lang="en-IN" dirty="0"/>
              <a:t>Chin-Kit Ng , Soon-</a:t>
            </a:r>
            <a:r>
              <a:rPr lang="en-IN" dirty="0" err="1"/>
              <a:t>Nyean</a:t>
            </a:r>
            <a:r>
              <a:rPr lang="en-IN" dirty="0"/>
              <a:t> Cheong, </a:t>
            </a:r>
            <a:r>
              <a:rPr lang="en-IN" dirty="0" err="1"/>
              <a:t>Erfan</a:t>
            </a:r>
            <a:r>
              <a:rPr lang="en-IN" dirty="0"/>
              <a:t> </a:t>
            </a:r>
            <a:r>
              <a:rPr lang="en-IN" dirty="0" err="1"/>
              <a:t>Hajimohammadhosseinmemar</a:t>
            </a:r>
            <a:r>
              <a:rPr lang="en-IN" dirty="0"/>
              <a:t> , Wen-</a:t>
            </a:r>
            <a:r>
              <a:rPr lang="en-IN" dirty="0" err="1"/>
              <a:t>Jiun</a:t>
            </a:r>
            <a:r>
              <a:rPr lang="en-IN" dirty="0"/>
              <a:t> Yap</a:t>
            </a:r>
            <a:r>
              <a:rPr lang="en-GB" b="1" i="0" dirty="0">
                <a:solidFill>
                  <a:srgbClr val="333333"/>
                </a:solidFill>
                <a:effectLst/>
                <a:highlight>
                  <a:srgbClr val="FFFFFF"/>
                </a:highlight>
                <a:latin typeface="HelveticaNeue Regular"/>
              </a:rPr>
              <a:t>) </a:t>
            </a:r>
            <a:r>
              <a:rPr lang="en-IN" b="1" i="0" dirty="0">
                <a:solidFill>
                  <a:srgbClr val="333333"/>
                </a:solidFill>
                <a:effectLst/>
                <a:highlight>
                  <a:srgbClr val="FFFFFF"/>
                </a:highlight>
                <a:latin typeface="HelveticaNeue Regular"/>
              </a:rPr>
              <a:t>DOI: </a:t>
            </a:r>
            <a:r>
              <a:rPr lang="en-IN" b="0" i="0" u="none" strike="noStrike" dirty="0">
                <a:solidFill>
                  <a:srgbClr val="006699"/>
                </a:solidFill>
                <a:effectLst/>
                <a:highlight>
                  <a:srgbClr val="FFFFFF"/>
                </a:highlight>
                <a:latin typeface="HelveticaNeue Regular"/>
                <a:hlinkClick r:id="rId7"/>
              </a:rPr>
              <a:t>10.1109/ICSGRC.2017.8070573</a:t>
            </a:r>
            <a:endParaRPr lang="en-IN" b="0" i="0" u="none" strike="noStrike" dirty="0">
              <a:solidFill>
                <a:srgbClr val="006699"/>
              </a:solidFill>
              <a:effectLst/>
              <a:highlight>
                <a:srgbClr val="FFFFFF"/>
              </a:highlight>
              <a:latin typeface="HelveticaNeue Regular"/>
            </a:endParaRPr>
          </a:p>
          <a:p>
            <a:r>
              <a:rPr lang="en-IN" dirty="0">
                <a:solidFill>
                  <a:srgbClr val="006699"/>
                </a:solidFill>
                <a:highlight>
                  <a:srgbClr val="FFFFFF"/>
                </a:highlight>
                <a:latin typeface="HelveticaNeue Regular"/>
              </a:rPr>
              <a:t>7.</a:t>
            </a:r>
            <a:r>
              <a:rPr lang="en-GB" b="1" i="0" dirty="0">
                <a:solidFill>
                  <a:srgbClr val="333333"/>
                </a:solidFill>
                <a:effectLst/>
                <a:highlight>
                  <a:srgbClr val="FFFFFF"/>
                </a:highlight>
                <a:latin typeface="HelveticaNeue Regular"/>
              </a:rPr>
              <a:t> Automatic Parking Space Detection System(</a:t>
            </a:r>
            <a:r>
              <a:rPr lang="en-IN" dirty="0"/>
              <a:t>Nazia Bibi , Muhammad Nadeem Majid, Hassan Dawood, and Ping </a:t>
            </a:r>
            <a:r>
              <a:rPr lang="en-IN" dirty="0" err="1"/>
              <a:t>guo</a:t>
            </a:r>
            <a:r>
              <a:rPr lang="en-GB" b="1" i="0" dirty="0">
                <a:solidFill>
                  <a:srgbClr val="333333"/>
                </a:solidFill>
                <a:effectLst/>
                <a:highlight>
                  <a:srgbClr val="FFFFFF"/>
                </a:highlight>
                <a:latin typeface="HelveticaNeue Regular"/>
              </a:rPr>
              <a:t>)</a:t>
            </a:r>
          </a:p>
          <a:p>
            <a:r>
              <a:rPr lang="en-IN" b="1" i="0" dirty="0">
                <a:solidFill>
                  <a:srgbClr val="333333"/>
                </a:solidFill>
                <a:effectLst/>
                <a:highlight>
                  <a:srgbClr val="FFFFFF"/>
                </a:highlight>
                <a:latin typeface="HelveticaNeue Regular"/>
              </a:rPr>
              <a:t>DOI: </a:t>
            </a:r>
            <a:r>
              <a:rPr lang="en-IN" b="0" i="0" u="none" strike="noStrike" dirty="0">
                <a:solidFill>
                  <a:srgbClr val="006699"/>
                </a:solidFill>
                <a:effectLst/>
                <a:highlight>
                  <a:srgbClr val="FFFFFF"/>
                </a:highlight>
                <a:latin typeface="HelveticaNeue Regular"/>
                <a:hlinkClick r:id="rId8"/>
              </a:rPr>
              <a:t>10.1109/ICMIP.2017.4</a:t>
            </a:r>
            <a:r>
              <a:rPr lang="en-IN" b="0" i="0" u="none" strike="noStrike" dirty="0">
                <a:solidFill>
                  <a:srgbClr val="006699"/>
                </a:solidFill>
                <a:effectLst/>
                <a:highlight>
                  <a:srgbClr val="FFFFFF"/>
                </a:highlight>
                <a:latin typeface="HelveticaNeue Regular"/>
              </a:rPr>
              <a:t>.</a:t>
            </a:r>
          </a:p>
          <a:p>
            <a:r>
              <a:rPr lang="en-GB" dirty="0"/>
              <a:t>8. </a:t>
            </a:r>
            <a:r>
              <a:rPr lang="en-GB" b="1" dirty="0"/>
              <a:t>A method of Parking space detection based on image segmentation and LBP(</a:t>
            </a:r>
            <a:r>
              <a:rPr lang="en-IN" dirty="0"/>
              <a:t>Wang </a:t>
            </a:r>
            <a:r>
              <a:rPr lang="en-IN" dirty="0" err="1"/>
              <a:t>Lixia</a:t>
            </a:r>
            <a:r>
              <a:rPr lang="en-IN" dirty="0"/>
              <a:t>, Jiang </a:t>
            </a:r>
            <a:r>
              <a:rPr lang="en-IN" dirty="0" err="1"/>
              <a:t>Dalin</a:t>
            </a:r>
            <a:r>
              <a:rPr lang="en-GB" b="1" dirty="0"/>
              <a:t>)</a:t>
            </a:r>
          </a:p>
          <a:p>
            <a:r>
              <a:rPr lang="en-IN" b="1" i="0" dirty="0">
                <a:solidFill>
                  <a:srgbClr val="333333"/>
                </a:solidFill>
                <a:effectLst/>
                <a:highlight>
                  <a:srgbClr val="FFFFFF"/>
                </a:highlight>
                <a:latin typeface="HelveticaNeue Regular"/>
              </a:rPr>
              <a:t>DOI: </a:t>
            </a:r>
            <a:r>
              <a:rPr lang="en-IN" b="0" i="0" u="none" strike="noStrike" dirty="0">
                <a:solidFill>
                  <a:srgbClr val="006699"/>
                </a:solidFill>
                <a:effectLst/>
                <a:highlight>
                  <a:srgbClr val="FFFFFF"/>
                </a:highlight>
                <a:latin typeface="HelveticaNeue Regular"/>
                <a:hlinkClick r:id="rId9"/>
              </a:rPr>
              <a:t>10.1109/MINES.2012.27</a:t>
            </a:r>
            <a:r>
              <a:rPr lang="en-GB" b="1" i="0" u="none" strike="noStrike" dirty="0">
                <a:solidFill>
                  <a:srgbClr val="006699"/>
                </a:solidFill>
                <a:effectLst/>
                <a:highlight>
                  <a:srgbClr val="FFFFFF"/>
                </a:highlight>
                <a:latin typeface="HelveticaNeue Regular"/>
              </a:rPr>
              <a:t>.</a:t>
            </a:r>
            <a:endParaRPr lang="en-GB" b="1" dirty="0"/>
          </a:p>
          <a:p>
            <a:pPr marL="342900" indent="-342900" algn="ctr">
              <a:buAutoNum type="arabicPeriod"/>
            </a:pPr>
            <a:endParaRPr lang="en-IN" dirty="0"/>
          </a:p>
        </p:txBody>
      </p:sp>
    </p:spTree>
    <p:extLst>
      <p:ext uri="{BB962C8B-B14F-4D97-AF65-F5344CB8AC3E}">
        <p14:creationId xmlns:p14="http://schemas.microsoft.com/office/powerpoint/2010/main" val="397433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A5307C-2F6C-ADDE-1E3B-8AC4CA114C88}"/>
              </a:ext>
            </a:extLst>
          </p:cNvPr>
          <p:cNvSpPr/>
          <p:nvPr/>
        </p:nvSpPr>
        <p:spPr>
          <a:xfrm>
            <a:off x="0" y="2379233"/>
            <a:ext cx="12192000" cy="2384612"/>
          </a:xfrm>
          <a:prstGeom prst="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itle 1">
            <a:extLst>
              <a:ext uri="{FF2B5EF4-FFF2-40B4-BE49-F238E27FC236}">
                <a16:creationId xmlns:a16="http://schemas.microsoft.com/office/drawing/2014/main" id="{561C16B7-6BEC-C1CC-A764-049E15914E59}"/>
              </a:ext>
            </a:extLst>
          </p:cNvPr>
          <p:cNvSpPr txBox="1">
            <a:spLocks/>
          </p:cNvSpPr>
          <p:nvPr/>
        </p:nvSpPr>
        <p:spPr>
          <a:xfrm>
            <a:off x="4331148" y="3079068"/>
            <a:ext cx="3939092" cy="93413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ontserrat" panose="00000500000000000000"/>
                <a:sym typeface="Montserrat" panose="00000500000000000000"/>
              </a:rPr>
              <a:t>Thank You!</a:t>
            </a:r>
            <a:endParaRPr lang="en-IN" dirty="0"/>
          </a:p>
        </p:txBody>
      </p:sp>
    </p:spTree>
    <p:extLst>
      <p:ext uri="{BB962C8B-B14F-4D97-AF65-F5344CB8AC3E}">
        <p14:creationId xmlns:p14="http://schemas.microsoft.com/office/powerpoint/2010/main" val="1790191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1396</Words>
  <Application>Microsoft Office PowerPoint</Application>
  <PresentationFormat>Widescreen</PresentationFormat>
  <Paragraphs>107</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Calibri</vt:lpstr>
      <vt:lpstr>Calibri Light</vt:lpstr>
      <vt:lpstr>HelveticaNeue Regular</vt:lpstr>
      <vt:lpstr>Montserrat</vt:lpstr>
      <vt:lpstr>Red Hat Display</vt:lpstr>
      <vt:lpstr>Times New Roman</vt:lpstr>
      <vt:lpstr>Wingdings</vt:lpstr>
      <vt:lpstr>Office Theme</vt:lpstr>
      <vt:lpstr> Guide For Parking Detection and Parking Space Counter in Smart City Using OpenCV  </vt:lpstr>
      <vt:lpstr>Contents</vt:lpstr>
      <vt:lpstr>PowerPoint Presentation</vt:lpstr>
      <vt:lpstr>Literature Survey</vt:lpstr>
      <vt:lpstr>Literature Survey</vt:lpstr>
      <vt:lpstr>Literature Survey</vt:lpstr>
      <vt:lpstr>Our Idea</vt:lpstr>
      <vt:lpstr>Methodology</vt:lpstr>
      <vt:lpstr>References</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Progress Seminar ON  Project Title</dc:title>
  <dc:creator>Microsoft account</dc:creator>
  <cp:lastModifiedBy>SUJAL GONDANE</cp:lastModifiedBy>
  <cp:revision>13</cp:revision>
  <dcterms:created xsi:type="dcterms:W3CDTF">2024-05-06T11:40:19Z</dcterms:created>
  <dcterms:modified xsi:type="dcterms:W3CDTF">2024-07-11T02:18:20Z</dcterms:modified>
</cp:coreProperties>
</file>